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213" r:id="rId1"/>
  </p:sldMasterIdLst>
  <p:notesMasterIdLst>
    <p:notesMasterId r:id="rId20"/>
  </p:notesMasterIdLst>
  <p:sldIdLst>
    <p:sldId id="353" r:id="rId2"/>
    <p:sldId id="257" r:id="rId3"/>
    <p:sldId id="358" r:id="rId4"/>
    <p:sldId id="359" r:id="rId5"/>
    <p:sldId id="315" r:id="rId6"/>
    <p:sldId id="272" r:id="rId7"/>
    <p:sldId id="333" r:id="rId8"/>
    <p:sldId id="346" r:id="rId9"/>
    <p:sldId id="341" r:id="rId10"/>
    <p:sldId id="342" r:id="rId11"/>
    <p:sldId id="355" r:id="rId12"/>
    <p:sldId id="356" r:id="rId13"/>
    <p:sldId id="351" r:id="rId14"/>
    <p:sldId id="345" r:id="rId15"/>
    <p:sldId id="348" r:id="rId16"/>
    <p:sldId id="360" r:id="rId17"/>
    <p:sldId id="357" r:id="rId18"/>
    <p:sldId id="288"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3" d="100"/>
          <a:sy n="83" d="100"/>
        </p:scale>
        <p:origin x="1203" y="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1C77B8-0DC7-480F-81A5-52DE3DAE28AA}" type="datetimeFigureOut">
              <a:rPr lang="en-IN" smtClean="0"/>
              <a:t>18-03-2024</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72DCE0-D27A-4322-A182-F44EEB151C68}" type="slidenum">
              <a:rPr lang="en-IN" smtClean="0"/>
              <a:t>‹#›</a:t>
            </a:fld>
            <a:endParaRPr lang="en-IN"/>
          </a:p>
        </p:txBody>
      </p:sp>
    </p:spTree>
    <p:extLst>
      <p:ext uri="{BB962C8B-B14F-4D97-AF65-F5344CB8AC3E}">
        <p14:creationId xmlns:p14="http://schemas.microsoft.com/office/powerpoint/2010/main" val="15339293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01820-E7FD-D0D5-2565-F38D3BDF0C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7FA7F5-9BB0-B74A-882A-4DB9590DCC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4076EB-04CC-7B5E-C963-4895B4B462F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443CB72-DABA-3B11-0C71-628B8A1ED843}"/>
              </a:ext>
            </a:extLst>
          </p:cNvPr>
          <p:cNvSpPr>
            <a:spLocks noGrp="1"/>
          </p:cNvSpPr>
          <p:nvPr>
            <p:ph type="sldNum" sz="quarter" idx="5"/>
          </p:nvPr>
        </p:nvSpPr>
        <p:spPr/>
        <p:txBody>
          <a:bodyPr/>
          <a:lstStyle/>
          <a:p>
            <a:fld id="{E572DCE0-D27A-4322-A182-F44EEB151C68}" type="slidenum">
              <a:rPr lang="en-IN" smtClean="0"/>
              <a:t>1</a:t>
            </a:fld>
            <a:endParaRPr lang="en-IN"/>
          </a:p>
        </p:txBody>
      </p:sp>
    </p:spTree>
    <p:extLst>
      <p:ext uri="{BB962C8B-B14F-4D97-AF65-F5344CB8AC3E}">
        <p14:creationId xmlns:p14="http://schemas.microsoft.com/office/powerpoint/2010/main" val="2805097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572DCE0-D27A-4322-A182-F44EEB151C68}" type="slidenum">
              <a:rPr lang="en-IN" smtClean="0"/>
              <a:t>5</a:t>
            </a:fld>
            <a:endParaRPr lang="en-IN"/>
          </a:p>
        </p:txBody>
      </p:sp>
    </p:spTree>
    <p:extLst>
      <p:ext uri="{BB962C8B-B14F-4D97-AF65-F5344CB8AC3E}">
        <p14:creationId xmlns:p14="http://schemas.microsoft.com/office/powerpoint/2010/main" val="39178459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3/18/2024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5882167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3/18/2024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760610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951530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pPr/>
              <a:t>3/18/2024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7779698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pPr/>
              <a:t>3/18/2024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45975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pPr/>
              <a:t>3/18/2024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648725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26307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59458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815631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90592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1806875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0485281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3066785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0866393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3/18/2024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5930831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pPr/>
              <a:t>3/18/2024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44949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D8BD707-D9CF-40AE-B4C6-C98DA3205C09}" type="datetimeFigureOut">
              <a:rPr lang="en-US" smtClean="0"/>
              <a:pPr/>
              <a:t>3/18/2024</a:t>
            </a:fld>
            <a:endParaRPr lang="en-US"/>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882495780"/>
      </p:ext>
    </p:extLst>
  </p:cSld>
  <p:clrMap bg1="lt1" tx1="dk1" bg2="lt2" tx2="dk2" accent1="accent1" accent2="accent2" accent3="accent3" accent4="accent4" accent5="accent5" accent6="accent6" hlink="hlink" folHlink="folHlink"/>
  <p:sldLayoutIdLst>
    <p:sldLayoutId id="2147484214" r:id="rId1"/>
    <p:sldLayoutId id="2147484215" r:id="rId2"/>
    <p:sldLayoutId id="2147484216" r:id="rId3"/>
    <p:sldLayoutId id="2147484217" r:id="rId4"/>
    <p:sldLayoutId id="2147484218" r:id="rId5"/>
    <p:sldLayoutId id="2147484219" r:id="rId6"/>
    <p:sldLayoutId id="2147484220" r:id="rId7"/>
    <p:sldLayoutId id="2147484221" r:id="rId8"/>
    <p:sldLayoutId id="2147484222" r:id="rId9"/>
    <p:sldLayoutId id="2147484223" r:id="rId10"/>
    <p:sldLayoutId id="2147484224" r:id="rId11"/>
    <p:sldLayoutId id="2147484225" r:id="rId12"/>
    <p:sldLayoutId id="2147484226" r:id="rId13"/>
    <p:sldLayoutId id="2147484227" r:id="rId14"/>
    <p:sldLayoutId id="2147484228" r:id="rId15"/>
    <p:sldLayoutId id="214748422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CCD96-2402-C4C8-F2D0-CB247C326D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57D389-F1BB-8BFC-6066-1EB5D5FD884B}"/>
              </a:ext>
            </a:extLst>
          </p:cNvPr>
          <p:cNvSpPr>
            <a:spLocks noGrp="1"/>
          </p:cNvSpPr>
          <p:nvPr>
            <p:ph type="ctrTitle"/>
          </p:nvPr>
        </p:nvSpPr>
        <p:spPr>
          <a:xfrm>
            <a:off x="838200" y="1295401"/>
            <a:ext cx="6553201" cy="1156856"/>
          </a:xfrm>
        </p:spPr>
        <p:txBody>
          <a:bodyPr>
            <a:noAutofit/>
          </a:bodyPr>
          <a:lstStyle/>
          <a:p>
            <a:pPr algn="ctr"/>
            <a:br>
              <a:rPr lang="en-US" sz="3200" b="1" dirty="0">
                <a:solidFill>
                  <a:schemeClr val="tx1"/>
                </a:solidFill>
              </a:rPr>
            </a:br>
            <a:br>
              <a:rPr lang="en-US" sz="3200" b="1" dirty="0">
                <a:solidFill>
                  <a:schemeClr val="tx1"/>
                </a:solidFill>
              </a:rPr>
            </a:br>
            <a:br>
              <a:rPr lang="en-US" sz="3200" b="1" dirty="0">
                <a:solidFill>
                  <a:schemeClr val="tx1"/>
                </a:solidFill>
              </a:rPr>
            </a:br>
            <a:br>
              <a:rPr lang="en-US" sz="3200" b="1" dirty="0">
                <a:solidFill>
                  <a:schemeClr val="tx1"/>
                </a:solidFill>
              </a:rPr>
            </a:br>
            <a:br>
              <a:rPr lang="en-US" sz="3200" b="1" dirty="0">
                <a:solidFill>
                  <a:schemeClr val="tx1"/>
                </a:solidFill>
              </a:rPr>
            </a:br>
            <a:br>
              <a:rPr lang="en-US" sz="3200" b="1" dirty="0">
                <a:solidFill>
                  <a:schemeClr val="tx1"/>
                </a:solidFill>
              </a:rPr>
            </a:br>
            <a:br>
              <a:rPr lang="en-US" sz="3200" b="1" dirty="0">
                <a:solidFill>
                  <a:schemeClr val="tx1"/>
                </a:solidFill>
              </a:rPr>
            </a:br>
            <a:br>
              <a:rPr lang="en-US" sz="3200" b="1" dirty="0">
                <a:solidFill>
                  <a:schemeClr val="tx1"/>
                </a:solidFill>
              </a:rPr>
            </a:br>
            <a:br>
              <a:rPr lang="en-US" sz="3200" b="1" dirty="0">
                <a:solidFill>
                  <a:schemeClr val="tx1"/>
                </a:solidFill>
              </a:rPr>
            </a:br>
            <a:br>
              <a:rPr lang="en-US" sz="3200" b="1" dirty="0">
                <a:solidFill>
                  <a:schemeClr val="tx1"/>
                </a:solidFill>
              </a:rPr>
            </a:br>
            <a:br>
              <a:rPr lang="en-US" sz="3200" b="1" dirty="0">
                <a:solidFill>
                  <a:schemeClr val="tx1"/>
                </a:solidFill>
              </a:rPr>
            </a:br>
            <a:r>
              <a:rPr lang="en-IN" sz="2400" b="1" dirty="0"/>
              <a:t>Weather Forecasting Prediction Using Machine Learning Techniques</a:t>
            </a:r>
            <a:br>
              <a:rPr lang="en-IN" sz="2000" dirty="0"/>
            </a:br>
            <a:endParaRPr lang="en-US" sz="2000" b="1" dirty="0">
              <a:solidFill>
                <a:schemeClr val="tx1"/>
              </a:solidFill>
            </a:endParaRPr>
          </a:p>
        </p:txBody>
      </p:sp>
      <p:sp>
        <p:nvSpPr>
          <p:cNvPr id="3" name="Subtitle 2">
            <a:extLst>
              <a:ext uri="{FF2B5EF4-FFF2-40B4-BE49-F238E27FC236}">
                <a16:creationId xmlns:a16="http://schemas.microsoft.com/office/drawing/2014/main" id="{06565F3D-E658-1375-2EF3-1CD46CFB95F3}"/>
              </a:ext>
            </a:extLst>
          </p:cNvPr>
          <p:cNvSpPr>
            <a:spLocks noGrp="1"/>
          </p:cNvSpPr>
          <p:nvPr>
            <p:ph type="subTitle" idx="1"/>
          </p:nvPr>
        </p:nvSpPr>
        <p:spPr>
          <a:xfrm>
            <a:off x="4800600" y="2667000"/>
            <a:ext cx="3505200" cy="2642134"/>
          </a:xfrm>
        </p:spPr>
        <p:txBody>
          <a:bodyPr>
            <a:normAutofit fontScale="25000" lnSpcReduction="20000"/>
          </a:bodyPr>
          <a:lstStyle/>
          <a:p>
            <a:endParaRPr lang="en-US" sz="2600" dirty="0"/>
          </a:p>
          <a:p>
            <a:endParaRPr lang="en-US" sz="2800" dirty="0"/>
          </a:p>
          <a:p>
            <a:endParaRPr lang="en-US" sz="2800" dirty="0"/>
          </a:p>
          <a:p>
            <a:endParaRPr lang="en-US" sz="2800" dirty="0"/>
          </a:p>
          <a:p>
            <a:pPr algn="l"/>
            <a:r>
              <a:rPr lang="en-US" sz="7200" dirty="0"/>
              <a:t>Presented by</a:t>
            </a:r>
          </a:p>
          <a:p>
            <a:pPr algn="l"/>
            <a:r>
              <a:rPr lang="en-US" sz="5600" dirty="0"/>
              <a:t>Kelvin Batch -12</a:t>
            </a:r>
          </a:p>
          <a:p>
            <a:pPr algn="l"/>
            <a:r>
              <a:rPr lang="en-US" sz="5600" dirty="0" err="1"/>
              <a:t>P.Geethika</a:t>
            </a:r>
            <a:r>
              <a:rPr lang="en-US" sz="5600" dirty="0"/>
              <a:t> –21735A0414</a:t>
            </a:r>
          </a:p>
          <a:p>
            <a:pPr algn="l"/>
            <a:r>
              <a:rPr lang="en-US" sz="5600" dirty="0" err="1"/>
              <a:t>N.Karthik</a:t>
            </a:r>
            <a:r>
              <a:rPr lang="en-US" sz="5600" dirty="0"/>
              <a:t> -21735A0419</a:t>
            </a:r>
          </a:p>
          <a:p>
            <a:pPr algn="l"/>
            <a:r>
              <a:rPr lang="en-US" sz="5600" dirty="0" err="1"/>
              <a:t>P.Madhulatha</a:t>
            </a:r>
            <a:r>
              <a:rPr lang="en-US" sz="5600" dirty="0"/>
              <a:t> -20731A04F8</a:t>
            </a:r>
          </a:p>
          <a:p>
            <a:pPr algn="l"/>
            <a:r>
              <a:rPr lang="en-US" sz="5600" dirty="0" err="1"/>
              <a:t>P.Hemadri</a:t>
            </a:r>
            <a:r>
              <a:rPr lang="en-US" sz="5600" dirty="0"/>
              <a:t> -20731A04F5</a:t>
            </a:r>
          </a:p>
          <a:p>
            <a:pPr algn="l"/>
            <a:r>
              <a:rPr lang="en-US" sz="5600" dirty="0" err="1"/>
              <a:t>B.Prasanna</a:t>
            </a:r>
            <a:r>
              <a:rPr lang="en-US" sz="5600" dirty="0"/>
              <a:t> Kumar Reddy -19731A0480</a:t>
            </a:r>
          </a:p>
          <a:p>
            <a:endParaRPr lang="en-US" sz="4800" b="1" dirty="0"/>
          </a:p>
          <a:p>
            <a:endParaRPr lang="en-US" sz="4900" dirty="0"/>
          </a:p>
          <a:p>
            <a:endParaRPr lang="en-US" sz="4900" dirty="0"/>
          </a:p>
          <a:p>
            <a:r>
              <a:rPr lang="en-US" sz="4900" dirty="0"/>
              <a:t> </a:t>
            </a:r>
          </a:p>
        </p:txBody>
      </p:sp>
      <p:sp>
        <p:nvSpPr>
          <p:cNvPr id="5" name="Subtitle 2">
            <a:extLst>
              <a:ext uri="{FF2B5EF4-FFF2-40B4-BE49-F238E27FC236}">
                <a16:creationId xmlns:a16="http://schemas.microsoft.com/office/drawing/2014/main" id="{3138AF5A-FAB6-9B73-F186-C05C9BC9D858}"/>
              </a:ext>
            </a:extLst>
          </p:cNvPr>
          <p:cNvSpPr txBox="1">
            <a:spLocks/>
          </p:cNvSpPr>
          <p:nvPr/>
        </p:nvSpPr>
        <p:spPr>
          <a:xfrm>
            <a:off x="-762000" y="3048000"/>
            <a:ext cx="4572000" cy="1524000"/>
          </a:xfrm>
          <a:prstGeom prst="rect">
            <a:avLst/>
          </a:prstGeom>
        </p:spPr>
        <p:txBody>
          <a:bodyPr lIns="45720" rIns="246888">
            <a:normAutofit/>
          </a:bodyPr>
          <a:lstStyle/>
          <a:p>
            <a:pPr marL="0" marR="0" lvl="0" indent="0" algn="r" defTabSz="914400" rtl="0" eaLnBrk="1" fontAlgn="auto" latinLnBrk="0" hangingPunct="1">
              <a:lnSpc>
                <a:spcPct val="100000"/>
              </a:lnSpc>
              <a:spcBef>
                <a:spcPts val="0"/>
              </a:spcBef>
              <a:spcAft>
                <a:spcPts val="0"/>
              </a:spcAft>
              <a:buClr>
                <a:schemeClr val="accent1"/>
              </a:buClr>
              <a:buSzPct val="70000"/>
              <a:buFont typeface="Wingdings 2"/>
              <a:buNone/>
              <a:tabLst/>
              <a:defRPr/>
            </a:pPr>
            <a:endParaRPr kumimoji="0" lang="en-US" sz="3200" b="0" i="0" u="none" strike="noStrike" kern="1200" cap="none" spc="0" normalizeH="0" baseline="0" noProof="0" dirty="0">
              <a:ln>
                <a:noFill/>
              </a:ln>
              <a:solidFill>
                <a:schemeClr val="tx1"/>
              </a:solidFill>
              <a:effectLst/>
              <a:uLnTx/>
              <a:uFillTx/>
              <a:latin typeface="+mn-lt"/>
              <a:ea typeface="+mn-ea"/>
              <a:cs typeface="+mn-cs"/>
            </a:endParaRPr>
          </a:p>
          <a:p>
            <a:pPr marL="0" marR="0" lvl="0" indent="0" algn="r" defTabSz="914400" rtl="0" eaLnBrk="1" fontAlgn="auto" latinLnBrk="0" hangingPunct="1">
              <a:lnSpc>
                <a:spcPct val="100000"/>
              </a:lnSpc>
              <a:spcBef>
                <a:spcPts val="0"/>
              </a:spcBef>
              <a:spcAft>
                <a:spcPts val="0"/>
              </a:spcAft>
              <a:buClr>
                <a:schemeClr val="accent1"/>
              </a:buClr>
              <a:buSzPct val="70000"/>
              <a:buFont typeface="Wingdings 2"/>
              <a:buNone/>
              <a:tabLst/>
              <a:defRPr/>
            </a:pPr>
            <a:r>
              <a:rPr kumimoji="0" lang="en-US" b="0" i="0" u="none" strike="noStrike" kern="1200" cap="none" spc="0" normalizeH="0" baseline="0" noProof="0" dirty="0">
                <a:ln>
                  <a:noFill/>
                </a:ln>
                <a:solidFill>
                  <a:schemeClr val="tx1"/>
                </a:solidFill>
                <a:effectLst/>
                <a:uLnTx/>
                <a:uFillTx/>
                <a:latin typeface="+mn-lt"/>
                <a:ea typeface="+mn-ea"/>
                <a:cs typeface="+mn-cs"/>
              </a:rPr>
              <a:t>Guide</a:t>
            </a:r>
            <a:r>
              <a:rPr kumimoji="0" lang="en-US" b="0" i="0" u="none" strike="noStrike" kern="1200" cap="none" spc="0" normalizeH="0" noProof="0" dirty="0">
                <a:ln>
                  <a:noFill/>
                </a:ln>
                <a:solidFill>
                  <a:schemeClr val="tx1"/>
                </a:solidFill>
                <a:effectLst/>
                <a:uLnTx/>
                <a:uFillTx/>
                <a:latin typeface="+mn-lt"/>
                <a:ea typeface="+mn-ea"/>
                <a:cs typeface="+mn-cs"/>
              </a:rPr>
              <a:t> Name</a:t>
            </a:r>
            <a:r>
              <a:rPr kumimoji="0" lang="en-US" i="0" u="none" strike="noStrike" kern="1200" cap="none" spc="0" normalizeH="0" noProof="0" dirty="0">
                <a:ln>
                  <a:noFill/>
                </a:ln>
                <a:solidFill>
                  <a:schemeClr val="tx1"/>
                </a:solidFill>
                <a:effectLst/>
                <a:uLnTx/>
                <a:uFillTx/>
                <a:latin typeface="+mn-lt"/>
                <a:ea typeface="+mn-ea"/>
                <a:cs typeface="+mn-cs"/>
              </a:rPr>
              <a:t>: </a:t>
            </a:r>
            <a:r>
              <a:rPr kumimoji="0" lang="en-US" i="0" u="none" strike="noStrike" kern="1200" cap="none" spc="0" normalizeH="0" noProof="0" dirty="0" err="1">
                <a:ln>
                  <a:noFill/>
                </a:ln>
                <a:solidFill>
                  <a:schemeClr val="tx1"/>
                </a:solidFill>
                <a:effectLst/>
                <a:uLnTx/>
                <a:uFillTx/>
                <a:latin typeface="+mn-lt"/>
                <a:ea typeface="+mn-ea"/>
                <a:cs typeface="+mn-cs"/>
              </a:rPr>
              <a:t>Mr.A</a:t>
            </a:r>
            <a:r>
              <a:rPr lang="en-US" dirty="0"/>
              <a:t>.</a:t>
            </a:r>
            <a:r>
              <a:rPr lang="en-US" dirty="0" err="1"/>
              <a:t>Venka</a:t>
            </a:r>
            <a:r>
              <a:rPr lang="en-US" dirty="0"/>
              <a:t> Reddy</a:t>
            </a:r>
          </a:p>
          <a:p>
            <a:pPr marL="0" marR="0" lvl="0" indent="0" algn="r" defTabSz="914400" rtl="0" eaLnBrk="1" fontAlgn="auto" latinLnBrk="0" hangingPunct="1">
              <a:lnSpc>
                <a:spcPct val="100000"/>
              </a:lnSpc>
              <a:spcBef>
                <a:spcPts val="0"/>
              </a:spcBef>
              <a:spcAft>
                <a:spcPts val="0"/>
              </a:spcAft>
              <a:buClr>
                <a:schemeClr val="accent1"/>
              </a:buClr>
              <a:buSzPct val="70000"/>
              <a:buFont typeface="Wingdings 2"/>
              <a:buNone/>
              <a:tabLst/>
              <a:defRPr/>
            </a:pPr>
            <a:r>
              <a:rPr lang="en-US" dirty="0"/>
              <a:t> </a:t>
            </a:r>
            <a:r>
              <a:rPr kumimoji="0" lang="en-US" i="0" u="none" strike="noStrike" kern="1200" cap="none" spc="0" normalizeH="0" noProof="0" dirty="0">
                <a:ln>
                  <a:noFill/>
                </a:ln>
                <a:solidFill>
                  <a:schemeClr val="tx1"/>
                </a:solidFill>
                <a:effectLst/>
                <a:uLnTx/>
                <a:uFillTx/>
                <a:latin typeface="+mn-lt"/>
                <a:ea typeface="+mn-ea"/>
                <a:cs typeface="+mn-cs"/>
              </a:rPr>
              <a:t>Assistant Professor</a:t>
            </a:r>
          </a:p>
          <a:p>
            <a:pPr marL="0" marR="0" lvl="0" indent="0" algn="r" defTabSz="914400" rtl="0" eaLnBrk="1" fontAlgn="auto" latinLnBrk="0" hangingPunct="1">
              <a:lnSpc>
                <a:spcPct val="100000"/>
              </a:lnSpc>
              <a:spcBef>
                <a:spcPts val="0"/>
              </a:spcBef>
              <a:spcAft>
                <a:spcPts val="0"/>
              </a:spcAft>
              <a:buClr>
                <a:schemeClr val="accent1"/>
              </a:buClr>
              <a:buSzPct val="70000"/>
              <a:buFont typeface="Wingdings 2"/>
              <a:buNone/>
              <a:tabLst/>
              <a:defRPr/>
            </a:pPr>
            <a:endParaRPr kumimoji="0" lang="en-US" sz="1400" b="1" i="0" u="none" strike="noStrike" kern="1200" cap="none" spc="0" normalizeH="0" noProof="0" dirty="0">
              <a:ln>
                <a:noFill/>
              </a:ln>
              <a:solidFill>
                <a:schemeClr val="tx1"/>
              </a:solidFill>
              <a:effectLst/>
              <a:uLnTx/>
              <a:uFillTx/>
              <a:latin typeface="+mn-lt"/>
              <a:ea typeface="+mn-ea"/>
              <a:cs typeface="+mn-cs"/>
            </a:endParaRPr>
          </a:p>
        </p:txBody>
      </p:sp>
      <p:pic>
        <p:nvPicPr>
          <p:cNvPr id="2050" name="Picture 1">
            <a:extLst>
              <a:ext uri="{FF2B5EF4-FFF2-40B4-BE49-F238E27FC236}">
                <a16:creationId xmlns:a16="http://schemas.microsoft.com/office/drawing/2014/main" id="{0A7AD05A-42C5-D549-BACE-EEB6AAE6D1A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933450" cy="84301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D7F92E7A-E722-B096-CAC1-665ED493BC81}"/>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 name="Rectangle 4">
            <a:extLst>
              <a:ext uri="{FF2B5EF4-FFF2-40B4-BE49-F238E27FC236}">
                <a16:creationId xmlns:a16="http://schemas.microsoft.com/office/drawing/2014/main" id="{0BA792F7-7450-173E-D323-BEAC282B7617}"/>
              </a:ext>
            </a:extLst>
          </p:cNvPr>
          <p:cNvSpPr>
            <a:spLocks noChangeArrowheads="1"/>
          </p:cNvSpPr>
          <p:nvPr/>
        </p:nvSpPr>
        <p:spPr bwMode="auto">
          <a:xfrm>
            <a:off x="1" y="540562"/>
            <a:ext cx="93345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1pPr>
            <a:lvl2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2pPr>
            <a:lvl3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3pPr>
            <a:lvl4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4pPr>
            <a:lvl5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5pPr>
            <a:lvl6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6pPr>
            <a:lvl7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7pPr>
            <a:lvl8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8pPr>
            <a:lvl9pPr eaLnBrk="0" fontAlgn="base" hangingPunct="0">
              <a:spcBef>
                <a:spcPct val="0"/>
              </a:spcBef>
              <a:spcAft>
                <a:spcPct val="0"/>
              </a:spcAft>
              <a:tabLst>
                <a:tab pos="2865438" algn="ctr"/>
                <a:tab pos="5730875" algn="r"/>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2865438" algn="ctr"/>
                <a:tab pos="5730875" algn="r"/>
              </a:tabLst>
            </a:pPr>
            <a:r>
              <a:rPr kumimoji="0" lang="en-US" altLang="en-US" b="1" i="0" u="none" strike="noStrike" cap="none" normalizeH="0" baseline="0" dirty="0">
                <a:ln>
                  <a:noFill/>
                </a:ln>
                <a:solidFill>
                  <a:srgbClr val="009ED6"/>
                </a:solidFill>
                <a:effectLst/>
                <a:latin typeface="Arial" panose="020B0604020202020204" pitchFamily="34" charset="0"/>
                <a:ea typeface="Times New Roman" panose="02020603050405020304" pitchFamily="18" charset="0"/>
              </a:rPr>
              <a:t>                             </a:t>
            </a:r>
            <a:endParaRPr kumimoji="0" lang="en-US" altLang="en-US" b="0" i="0" u="none" strike="noStrike" cap="none" normalizeH="0" baseline="0" dirty="0">
              <a:ln>
                <a:noFill/>
              </a:ln>
              <a:solidFill>
                <a:schemeClr val="tx1"/>
              </a:solidFill>
              <a:effectLst/>
              <a:latin typeface="Arial" panose="020B0604020202020204" pitchFamily="34" charset="0"/>
            </a:endParaRPr>
          </a:p>
        </p:txBody>
      </p:sp>
      <p:sp>
        <p:nvSpPr>
          <p:cNvPr id="7" name="Rectangle 5">
            <a:extLst>
              <a:ext uri="{FF2B5EF4-FFF2-40B4-BE49-F238E27FC236}">
                <a16:creationId xmlns:a16="http://schemas.microsoft.com/office/drawing/2014/main" id="{28F6BD49-C641-0DA4-D2F5-CBBB3AC8AB0F}"/>
              </a:ext>
            </a:extLst>
          </p:cNvPr>
          <p:cNvSpPr>
            <a:spLocks noChangeArrowheads="1"/>
          </p:cNvSpPr>
          <p:nvPr/>
        </p:nvSpPr>
        <p:spPr bwMode="auto">
          <a:xfrm>
            <a:off x="685801" y="116458"/>
            <a:ext cx="67818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2865438" algn="ctr"/>
                <a:tab pos="3000375" algn="ctr"/>
                <a:tab pos="5730875" algn="r"/>
                <a:tab pos="6000750" algn="r"/>
              </a:tabLst>
              <a:defRPr>
                <a:solidFill>
                  <a:schemeClr val="tx1"/>
                </a:solidFill>
                <a:latin typeface="Arial" panose="020B0604020202020204" pitchFamily="34" charset="0"/>
              </a:defRPr>
            </a:lvl1pPr>
            <a:lvl2pPr eaLnBrk="0" fontAlgn="base" hangingPunct="0">
              <a:spcBef>
                <a:spcPct val="0"/>
              </a:spcBef>
              <a:spcAft>
                <a:spcPct val="0"/>
              </a:spcAft>
              <a:tabLst>
                <a:tab pos="2865438" algn="ctr"/>
                <a:tab pos="3000375" algn="ctr"/>
                <a:tab pos="5730875" algn="r"/>
                <a:tab pos="6000750" algn="r"/>
              </a:tabLst>
              <a:defRPr>
                <a:solidFill>
                  <a:schemeClr val="tx1"/>
                </a:solidFill>
                <a:latin typeface="Arial" panose="020B0604020202020204" pitchFamily="34" charset="0"/>
              </a:defRPr>
            </a:lvl2pPr>
            <a:lvl3pPr eaLnBrk="0" fontAlgn="base" hangingPunct="0">
              <a:spcBef>
                <a:spcPct val="0"/>
              </a:spcBef>
              <a:spcAft>
                <a:spcPct val="0"/>
              </a:spcAft>
              <a:tabLst>
                <a:tab pos="2865438" algn="ctr"/>
                <a:tab pos="3000375" algn="ctr"/>
                <a:tab pos="5730875" algn="r"/>
                <a:tab pos="6000750" algn="r"/>
              </a:tabLst>
              <a:defRPr>
                <a:solidFill>
                  <a:schemeClr val="tx1"/>
                </a:solidFill>
                <a:latin typeface="Arial" panose="020B0604020202020204" pitchFamily="34" charset="0"/>
              </a:defRPr>
            </a:lvl3pPr>
            <a:lvl4pPr eaLnBrk="0" fontAlgn="base" hangingPunct="0">
              <a:spcBef>
                <a:spcPct val="0"/>
              </a:spcBef>
              <a:spcAft>
                <a:spcPct val="0"/>
              </a:spcAft>
              <a:tabLst>
                <a:tab pos="2865438" algn="ctr"/>
                <a:tab pos="3000375" algn="ctr"/>
                <a:tab pos="5730875" algn="r"/>
                <a:tab pos="6000750" algn="r"/>
              </a:tabLst>
              <a:defRPr>
                <a:solidFill>
                  <a:schemeClr val="tx1"/>
                </a:solidFill>
                <a:latin typeface="Arial" panose="020B0604020202020204" pitchFamily="34" charset="0"/>
              </a:defRPr>
            </a:lvl4pPr>
            <a:lvl5pPr eaLnBrk="0" fontAlgn="base" hangingPunct="0">
              <a:spcBef>
                <a:spcPct val="0"/>
              </a:spcBef>
              <a:spcAft>
                <a:spcPct val="0"/>
              </a:spcAft>
              <a:tabLst>
                <a:tab pos="2865438" algn="ctr"/>
                <a:tab pos="3000375" algn="ctr"/>
                <a:tab pos="5730875" algn="r"/>
                <a:tab pos="6000750" algn="r"/>
              </a:tabLst>
              <a:defRPr>
                <a:solidFill>
                  <a:schemeClr val="tx1"/>
                </a:solidFill>
                <a:latin typeface="Arial" panose="020B0604020202020204" pitchFamily="34" charset="0"/>
              </a:defRPr>
            </a:lvl5pPr>
            <a:lvl6pPr eaLnBrk="0" fontAlgn="base" hangingPunct="0">
              <a:spcBef>
                <a:spcPct val="0"/>
              </a:spcBef>
              <a:spcAft>
                <a:spcPct val="0"/>
              </a:spcAft>
              <a:tabLst>
                <a:tab pos="2865438" algn="ctr"/>
                <a:tab pos="3000375" algn="ctr"/>
                <a:tab pos="5730875" algn="r"/>
                <a:tab pos="6000750" algn="r"/>
              </a:tabLst>
              <a:defRPr>
                <a:solidFill>
                  <a:schemeClr val="tx1"/>
                </a:solidFill>
                <a:latin typeface="Arial" panose="020B0604020202020204" pitchFamily="34" charset="0"/>
              </a:defRPr>
            </a:lvl6pPr>
            <a:lvl7pPr eaLnBrk="0" fontAlgn="base" hangingPunct="0">
              <a:spcBef>
                <a:spcPct val="0"/>
              </a:spcBef>
              <a:spcAft>
                <a:spcPct val="0"/>
              </a:spcAft>
              <a:tabLst>
                <a:tab pos="2865438" algn="ctr"/>
                <a:tab pos="3000375" algn="ctr"/>
                <a:tab pos="5730875" algn="r"/>
                <a:tab pos="6000750" algn="r"/>
              </a:tabLst>
              <a:defRPr>
                <a:solidFill>
                  <a:schemeClr val="tx1"/>
                </a:solidFill>
                <a:latin typeface="Arial" panose="020B0604020202020204" pitchFamily="34" charset="0"/>
              </a:defRPr>
            </a:lvl7pPr>
            <a:lvl8pPr eaLnBrk="0" fontAlgn="base" hangingPunct="0">
              <a:spcBef>
                <a:spcPct val="0"/>
              </a:spcBef>
              <a:spcAft>
                <a:spcPct val="0"/>
              </a:spcAft>
              <a:tabLst>
                <a:tab pos="2865438" algn="ctr"/>
                <a:tab pos="3000375" algn="ctr"/>
                <a:tab pos="5730875" algn="r"/>
                <a:tab pos="6000750" algn="r"/>
              </a:tabLst>
              <a:defRPr>
                <a:solidFill>
                  <a:schemeClr val="tx1"/>
                </a:solidFill>
                <a:latin typeface="Arial" panose="020B0604020202020204" pitchFamily="34" charset="0"/>
              </a:defRPr>
            </a:lvl8pPr>
            <a:lvl9pPr eaLnBrk="0" fontAlgn="base" hangingPunct="0">
              <a:spcBef>
                <a:spcPct val="0"/>
              </a:spcBef>
              <a:spcAft>
                <a:spcPct val="0"/>
              </a:spcAft>
              <a:tabLst>
                <a:tab pos="2865438" algn="ctr"/>
                <a:tab pos="3000375" algn="ctr"/>
                <a:tab pos="5730875" algn="r"/>
                <a:tab pos="6000750" algn="r"/>
              </a:tabLs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tab pos="2865438" algn="ctr"/>
                <a:tab pos="3000375" algn="ctr"/>
                <a:tab pos="5730875" algn="r"/>
                <a:tab pos="6000750" algn="r"/>
              </a:tabLst>
            </a:pPr>
            <a:r>
              <a:rPr kumimoji="0" lang="en-US" altLang="en-US" sz="1600" b="1" i="0" u="none" strike="noStrike" cap="none" normalizeH="0" baseline="0" dirty="0">
                <a:ln>
                  <a:noFill/>
                </a:ln>
                <a:solidFill>
                  <a:srgbClr val="009ED6"/>
                </a:solidFill>
                <a:effectLst/>
                <a:latin typeface="Arial" panose="020B0604020202020204" pitchFamily="34" charset="0"/>
                <a:ea typeface="Times New Roman" panose="02020603050405020304" pitchFamily="18" charset="0"/>
              </a:rPr>
              <a:t>PBR </a:t>
            </a:r>
          </a:p>
          <a:p>
            <a:pPr marL="0" marR="0" lvl="0" indent="0" algn="ctr" defTabSz="914400" rtl="0" eaLnBrk="0" fontAlgn="base" latinLnBrk="0" hangingPunct="0">
              <a:lnSpc>
                <a:spcPct val="100000"/>
              </a:lnSpc>
              <a:spcBef>
                <a:spcPct val="0"/>
              </a:spcBef>
              <a:spcAft>
                <a:spcPct val="0"/>
              </a:spcAft>
              <a:buClrTx/>
              <a:buSzTx/>
              <a:buFontTx/>
              <a:buNone/>
              <a:tabLst>
                <a:tab pos="2865438" algn="ctr"/>
                <a:tab pos="3000375" algn="ctr"/>
                <a:tab pos="5730875" algn="r"/>
                <a:tab pos="6000750" algn="r"/>
              </a:tabLst>
            </a:pPr>
            <a:r>
              <a:rPr kumimoji="0" lang="en-US" altLang="en-US" sz="1600" b="1" i="0" u="none" strike="noStrike" cap="none" normalizeH="0" baseline="0" dirty="0">
                <a:ln>
                  <a:noFill/>
                </a:ln>
                <a:solidFill>
                  <a:srgbClr val="009ED6"/>
                </a:solidFill>
                <a:effectLst/>
                <a:latin typeface="Arial" panose="020B0604020202020204" pitchFamily="34" charset="0"/>
                <a:ea typeface="Times New Roman" panose="02020603050405020304" pitchFamily="18" charset="0"/>
              </a:rPr>
              <a:t>VISVODAYA INSTITUTE OF TECHNOLOGY </a:t>
            </a:r>
            <a:r>
              <a:rPr lang="en-US" altLang="en-US" sz="1600" b="1" dirty="0">
                <a:solidFill>
                  <a:srgbClr val="009ED6"/>
                </a:solidFill>
                <a:ea typeface="Times New Roman" panose="02020603050405020304" pitchFamily="18" charset="0"/>
              </a:rPr>
              <a:t>AND </a:t>
            </a:r>
            <a:r>
              <a:rPr kumimoji="0" lang="en-US" altLang="en-US" sz="1600" b="1" i="0" u="none" strike="noStrike" cap="none" normalizeH="0" baseline="0" dirty="0">
                <a:ln>
                  <a:noFill/>
                </a:ln>
                <a:solidFill>
                  <a:srgbClr val="009ED6"/>
                </a:solidFill>
                <a:effectLst/>
                <a:latin typeface="Arial" panose="020B0604020202020204" pitchFamily="34" charset="0"/>
                <a:ea typeface="Times New Roman" panose="02020603050405020304" pitchFamily="18" charset="0"/>
              </a:rPr>
              <a:t>SCIENCE</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tab pos="2865438" algn="ctr"/>
                <a:tab pos="3000375" algn="ctr"/>
                <a:tab pos="5730875" algn="r"/>
                <a:tab pos="6000750" algn="r"/>
              </a:tabLst>
            </a:pPr>
            <a:r>
              <a:rPr lang="en-US" altLang="en-US" sz="1400" b="1" dirty="0">
                <a:solidFill>
                  <a:srgbClr val="009ED6"/>
                </a:solidFill>
              </a:rPr>
              <a:t>Kavali-524201,S.P.S.R Nellore(Dt),Ph:08626-243930</a:t>
            </a:r>
            <a:endParaRPr kumimoji="0" lang="en-US" altLang="en-US" sz="1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683750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6437611" cy="1625600"/>
          </a:xfrm>
        </p:spPr>
        <p:txBody>
          <a:bodyPr>
            <a:normAutofit/>
          </a:bodyPr>
          <a:lstStyle/>
          <a:p>
            <a:r>
              <a:rPr lang="en-US" sz="4800" b="1" dirty="0"/>
              <a:t>Index</a:t>
            </a:r>
          </a:p>
        </p:txBody>
      </p:sp>
      <p:sp>
        <p:nvSpPr>
          <p:cNvPr id="3" name="Content Placeholder 2"/>
          <p:cNvSpPr>
            <a:spLocks noGrp="1"/>
          </p:cNvSpPr>
          <p:nvPr>
            <p:ph idx="1"/>
          </p:nvPr>
        </p:nvSpPr>
        <p:spPr>
          <a:xfrm>
            <a:off x="519702" y="1676400"/>
            <a:ext cx="6437611" cy="4364963"/>
          </a:xfrm>
        </p:spPr>
        <p:txBody>
          <a:bodyPr>
            <a:normAutofit fontScale="92500" lnSpcReduction="10000"/>
          </a:bodyPr>
          <a:lstStyle/>
          <a:p>
            <a:r>
              <a:rPr lang="en-US" sz="3600" dirty="0"/>
              <a:t> Introduction</a:t>
            </a:r>
          </a:p>
          <a:p>
            <a:r>
              <a:rPr lang="en-US" sz="3600" dirty="0"/>
              <a:t> Abstract</a:t>
            </a:r>
          </a:p>
          <a:p>
            <a:r>
              <a:rPr lang="en-US" sz="3600" dirty="0"/>
              <a:t> Literature survey</a:t>
            </a:r>
          </a:p>
          <a:p>
            <a:r>
              <a:rPr lang="en-US" sz="3600" dirty="0"/>
              <a:t> Block diagram</a:t>
            </a:r>
          </a:p>
          <a:p>
            <a:r>
              <a:rPr lang="en-US" sz="3600" dirty="0"/>
              <a:t> Advantages &amp; Disadvantages</a:t>
            </a:r>
          </a:p>
          <a:p>
            <a:r>
              <a:rPr lang="en-US" sz="3600" dirty="0"/>
              <a:t> Proposed algorithm</a:t>
            </a:r>
          </a:p>
          <a:p>
            <a:r>
              <a:rPr lang="en-US" sz="3600" dirty="0"/>
              <a:t> Conclusion</a:t>
            </a:r>
          </a:p>
          <a:p>
            <a:pPr marL="457200" lvl="1" indent="0">
              <a:buNone/>
            </a:pPr>
            <a:endParaRPr lang="en-US" sz="4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6AAF4-508E-114A-1BDA-818A2ED0478C}"/>
              </a:ext>
            </a:extLst>
          </p:cNvPr>
          <p:cNvSpPr>
            <a:spLocks noGrp="1"/>
          </p:cNvSpPr>
          <p:nvPr>
            <p:ph type="title"/>
          </p:nvPr>
        </p:nvSpPr>
        <p:spPr/>
        <p:txBody>
          <a:bodyPr/>
          <a:lstStyle/>
          <a:p>
            <a:r>
              <a:rPr lang="en-US" dirty="0"/>
              <a:t>Introduction(DIP)</a:t>
            </a:r>
            <a:endParaRPr lang="en-IN" dirty="0"/>
          </a:p>
        </p:txBody>
      </p:sp>
      <p:sp>
        <p:nvSpPr>
          <p:cNvPr id="3" name="Content Placeholder 2">
            <a:extLst>
              <a:ext uri="{FF2B5EF4-FFF2-40B4-BE49-F238E27FC236}">
                <a16:creationId xmlns:a16="http://schemas.microsoft.com/office/drawing/2014/main" id="{69D31889-D622-298B-08BE-CCA9CCFBF24D}"/>
              </a:ext>
            </a:extLst>
          </p:cNvPr>
          <p:cNvSpPr>
            <a:spLocks noGrp="1"/>
          </p:cNvSpPr>
          <p:nvPr>
            <p:ph idx="1"/>
          </p:nvPr>
        </p:nvSpPr>
        <p:spPr>
          <a:xfrm>
            <a:off x="457200" y="1981200"/>
            <a:ext cx="6934200" cy="4060163"/>
          </a:xfrm>
        </p:spPr>
        <p:txBody>
          <a:bodyPr>
            <a:normAutofit/>
          </a:bodyPr>
          <a:lstStyle/>
          <a:p>
            <a:pPr marL="356870" marR="5080" indent="-344805">
              <a:lnSpc>
                <a:spcPct val="98700"/>
              </a:lnSpc>
              <a:spcBef>
                <a:spcPts val="125"/>
              </a:spcBef>
              <a:buClr>
                <a:schemeClr val="accent3"/>
              </a:buClr>
              <a:buFont typeface="Wingdings" pitchFamily="2" charset="2"/>
              <a:buChar char="Ø"/>
            </a:pPr>
            <a:r>
              <a:rPr lang="en-GB" sz="3200" dirty="0">
                <a:latin typeface="Times New Roman" pitchFamily="18" charset="0"/>
                <a:cs typeface="Times New Roman" pitchFamily="18" charset="0"/>
              </a:rPr>
              <a:t>The digital image processing deals with developing a digital system that performs operations on an image.</a:t>
            </a:r>
          </a:p>
          <a:p>
            <a:pPr marL="356870" marR="5080" indent="-344805">
              <a:lnSpc>
                <a:spcPct val="98700"/>
              </a:lnSpc>
              <a:spcBef>
                <a:spcPts val="125"/>
              </a:spcBef>
              <a:buClr>
                <a:schemeClr val="accent3"/>
              </a:buClr>
              <a:buFont typeface="Wingdings" pitchFamily="2" charset="2"/>
              <a:buChar char="Ø"/>
            </a:pPr>
            <a:r>
              <a:rPr lang="en-GB" sz="3200" b="1" dirty="0">
                <a:latin typeface="Times New Roman" pitchFamily="18" charset="0"/>
                <a:cs typeface="Times New Roman" pitchFamily="18" charset="0"/>
              </a:rPr>
              <a:t>Types of images : </a:t>
            </a:r>
            <a:r>
              <a:rPr lang="en-GB" sz="3200" dirty="0">
                <a:latin typeface="Times New Roman" pitchFamily="18" charset="0"/>
                <a:cs typeface="Times New Roman" pitchFamily="18" charset="0"/>
              </a:rPr>
              <a:t>Binary image , Gray scale image, RGB colour image, RGBA image. </a:t>
            </a:r>
            <a:endParaRPr lang="en-GB" sz="3200" b="1" dirty="0">
              <a:latin typeface="Times New Roman" pitchFamily="18" charset="0"/>
              <a:cs typeface="Times New Roman" pitchFamily="18" charset="0"/>
            </a:endParaRPr>
          </a:p>
          <a:p>
            <a:pPr marL="356870" marR="5080" indent="-344805" algn="ctr">
              <a:lnSpc>
                <a:spcPct val="98700"/>
              </a:lnSpc>
              <a:spcBef>
                <a:spcPts val="125"/>
              </a:spcBef>
              <a:buClr>
                <a:schemeClr val="accent3"/>
              </a:buClr>
              <a:buFont typeface="Wingdings" pitchFamily="2" charset="2"/>
              <a:buChar char="Ø"/>
            </a:pPr>
            <a:endParaRPr lang="en-GB" sz="2400" dirty="0">
              <a:latin typeface="Times New Roman" pitchFamily="18" charset="0"/>
              <a:cs typeface="Times New Roman" pitchFamily="18" charset="0"/>
            </a:endParaRPr>
          </a:p>
          <a:p>
            <a:pPr marL="356870" marR="5080" indent="-344805" algn="just">
              <a:lnSpc>
                <a:spcPct val="98700"/>
              </a:lnSpc>
              <a:spcBef>
                <a:spcPts val="125"/>
              </a:spcBef>
              <a:buClr>
                <a:schemeClr val="accent3"/>
              </a:buClr>
            </a:pPr>
            <a:endParaRPr lang="en-GB" sz="1800" dirty="0">
              <a:latin typeface="Times New Roman" pitchFamily="18" charset="0"/>
              <a:cs typeface="Times New Roman" pitchFamily="18" charset="0"/>
            </a:endParaRPr>
          </a:p>
          <a:p>
            <a:pPr marL="356870" marR="5080" indent="-344805" algn="just">
              <a:lnSpc>
                <a:spcPct val="98700"/>
              </a:lnSpc>
              <a:spcBef>
                <a:spcPts val="125"/>
              </a:spcBef>
              <a:buClr>
                <a:schemeClr val="accent3"/>
              </a:buClr>
              <a:buFont typeface="Wingdings" pitchFamily="2" charset="2"/>
              <a:buChar char="Ø"/>
            </a:pPr>
            <a:endParaRPr lang="en-GB" sz="1800" dirty="0">
              <a:latin typeface="Times New Roman" pitchFamily="18" charset="0"/>
              <a:cs typeface="Times New Roman" pitchFamily="18" charset="0"/>
            </a:endParaRPr>
          </a:p>
          <a:p>
            <a:pPr marL="356870" marR="5080" indent="-344805" algn="just">
              <a:lnSpc>
                <a:spcPct val="98700"/>
              </a:lnSpc>
              <a:spcBef>
                <a:spcPts val="125"/>
              </a:spcBef>
              <a:buClr>
                <a:schemeClr val="accent3"/>
              </a:buClr>
              <a:buFont typeface="Wingdings" pitchFamily="2" charset="2"/>
              <a:buChar char="Ø"/>
            </a:pPr>
            <a:endParaRPr lang="en-GB" sz="1800" dirty="0">
              <a:latin typeface="Times New Roman" pitchFamily="18" charset="0"/>
              <a:cs typeface="Times New Roman" pitchFamily="18" charset="0"/>
            </a:endParaRPr>
          </a:p>
          <a:p>
            <a:pPr marL="356870" marR="5080" indent="-344805" algn="just">
              <a:lnSpc>
                <a:spcPct val="98700"/>
              </a:lnSpc>
              <a:spcBef>
                <a:spcPts val="125"/>
              </a:spcBef>
              <a:buClr>
                <a:schemeClr val="accent3"/>
              </a:buClr>
              <a:buFont typeface="Wingdings" pitchFamily="2" charset="2"/>
              <a:buChar char="Ø"/>
            </a:pPr>
            <a:endParaRPr lang="en-US" sz="1800" dirty="0">
              <a:latin typeface="Times New Roman" pitchFamily="18" charset="0"/>
              <a:cs typeface="Times New Roman" pitchFamily="18" charset="0"/>
            </a:endParaRPr>
          </a:p>
          <a:p>
            <a:endParaRPr lang="en-IN" dirty="0"/>
          </a:p>
        </p:txBody>
      </p:sp>
    </p:spTree>
    <p:extLst>
      <p:ext uri="{BB962C8B-B14F-4D97-AF65-F5344CB8AC3E}">
        <p14:creationId xmlns:p14="http://schemas.microsoft.com/office/powerpoint/2010/main" val="4063849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62EC4C-9356-B4ED-7DB2-910549BC07D4}"/>
              </a:ext>
            </a:extLst>
          </p:cNvPr>
          <p:cNvSpPr>
            <a:spLocks noGrp="1"/>
          </p:cNvSpPr>
          <p:nvPr>
            <p:ph type="title"/>
          </p:nvPr>
        </p:nvSpPr>
        <p:spPr/>
        <p:txBody>
          <a:bodyPr/>
          <a:lstStyle/>
          <a:p>
            <a:r>
              <a:rPr lang="en-US" dirty="0"/>
              <a:t>Applications </a:t>
            </a:r>
            <a:endParaRPr lang="en-IN" dirty="0"/>
          </a:p>
        </p:txBody>
      </p:sp>
      <p:sp>
        <p:nvSpPr>
          <p:cNvPr id="3" name="Content Placeholder 2">
            <a:extLst>
              <a:ext uri="{FF2B5EF4-FFF2-40B4-BE49-F238E27FC236}">
                <a16:creationId xmlns:a16="http://schemas.microsoft.com/office/drawing/2014/main" id="{784803C2-5F47-7B3C-731E-3DBD1C82C0F5}"/>
              </a:ext>
            </a:extLst>
          </p:cNvPr>
          <p:cNvSpPr>
            <a:spLocks noGrp="1"/>
          </p:cNvSpPr>
          <p:nvPr>
            <p:ph idx="1"/>
          </p:nvPr>
        </p:nvSpPr>
        <p:spPr>
          <a:xfrm>
            <a:off x="152400" y="1930400"/>
            <a:ext cx="6804913" cy="4110963"/>
          </a:xfrm>
        </p:spPr>
        <p:txBody>
          <a:bodyPr/>
          <a:lstStyle/>
          <a:p>
            <a:pPr marL="12065" marR="5080" indent="0">
              <a:lnSpc>
                <a:spcPct val="98700"/>
              </a:lnSpc>
              <a:spcBef>
                <a:spcPts val="125"/>
              </a:spcBef>
              <a:buClr>
                <a:schemeClr val="accent3"/>
              </a:buClr>
              <a:buNone/>
            </a:pPr>
            <a:r>
              <a:rPr lang="en-GB" sz="1800" dirty="0">
                <a:latin typeface="Times New Roman" pitchFamily="18" charset="0"/>
                <a:cs typeface="Times New Roman" pitchFamily="18" charset="0"/>
              </a:rPr>
              <a:t>        </a:t>
            </a:r>
            <a:r>
              <a:rPr lang="en-GB" sz="2800" dirty="0">
                <a:latin typeface="Times New Roman" pitchFamily="18" charset="0"/>
                <a:cs typeface="Times New Roman" pitchFamily="18" charset="0"/>
              </a:rPr>
              <a:t>Image Sharpening &amp; restoration </a:t>
            </a:r>
          </a:p>
          <a:p>
            <a:pPr marL="12065" marR="5080" indent="0">
              <a:lnSpc>
                <a:spcPct val="98700"/>
              </a:lnSpc>
              <a:spcBef>
                <a:spcPts val="125"/>
              </a:spcBef>
              <a:buClr>
                <a:schemeClr val="accent3"/>
              </a:buClr>
              <a:buNone/>
            </a:pPr>
            <a:r>
              <a:rPr lang="en-GB" sz="2800" dirty="0">
                <a:latin typeface="Times New Roman" pitchFamily="18" charset="0"/>
                <a:cs typeface="Times New Roman" pitchFamily="18" charset="0"/>
              </a:rPr>
              <a:t>     Medical field </a:t>
            </a:r>
          </a:p>
          <a:p>
            <a:pPr marL="12065" marR="5080" indent="0">
              <a:lnSpc>
                <a:spcPct val="98700"/>
              </a:lnSpc>
              <a:spcBef>
                <a:spcPts val="125"/>
              </a:spcBef>
              <a:buClr>
                <a:schemeClr val="accent3"/>
              </a:buClr>
              <a:buNone/>
            </a:pPr>
            <a:r>
              <a:rPr lang="en-GB" sz="2800" dirty="0">
                <a:latin typeface="Times New Roman" pitchFamily="18" charset="0"/>
                <a:cs typeface="Times New Roman" pitchFamily="18" charset="0"/>
              </a:rPr>
              <a:t>     Remote sensing </a:t>
            </a:r>
          </a:p>
          <a:p>
            <a:pPr marL="12065" marR="5080" indent="0">
              <a:lnSpc>
                <a:spcPct val="98700"/>
              </a:lnSpc>
              <a:spcBef>
                <a:spcPts val="125"/>
              </a:spcBef>
              <a:buClr>
                <a:schemeClr val="accent3"/>
              </a:buClr>
              <a:buNone/>
            </a:pPr>
            <a:r>
              <a:rPr lang="en-GB" sz="2800" dirty="0">
                <a:latin typeface="Times New Roman" pitchFamily="18" charset="0"/>
                <a:cs typeface="Times New Roman" pitchFamily="18" charset="0"/>
              </a:rPr>
              <a:t>     Transmission &amp; Encoding </a:t>
            </a:r>
          </a:p>
          <a:p>
            <a:pPr marL="12065" marR="5080" indent="0">
              <a:lnSpc>
                <a:spcPct val="98700"/>
              </a:lnSpc>
              <a:spcBef>
                <a:spcPts val="125"/>
              </a:spcBef>
              <a:buClr>
                <a:schemeClr val="accent3"/>
              </a:buClr>
              <a:buNone/>
            </a:pPr>
            <a:r>
              <a:rPr lang="en-GB" sz="2800" dirty="0">
                <a:latin typeface="Times New Roman" pitchFamily="18" charset="0"/>
                <a:cs typeface="Times New Roman" pitchFamily="18" charset="0"/>
              </a:rPr>
              <a:t>     Pattern recognition </a:t>
            </a:r>
          </a:p>
          <a:p>
            <a:pPr marL="12065" marR="5080" indent="0">
              <a:lnSpc>
                <a:spcPct val="98700"/>
              </a:lnSpc>
              <a:spcBef>
                <a:spcPts val="125"/>
              </a:spcBef>
              <a:buClr>
                <a:schemeClr val="accent3"/>
              </a:buClr>
              <a:buNone/>
            </a:pPr>
            <a:r>
              <a:rPr lang="en-GB" sz="2800" dirty="0">
                <a:latin typeface="Times New Roman" pitchFamily="18" charset="0"/>
                <a:cs typeface="Times New Roman" pitchFamily="18" charset="0"/>
              </a:rPr>
              <a:t>     Video processing   </a:t>
            </a:r>
          </a:p>
          <a:p>
            <a:pPr marL="12065" marR="5080" indent="0">
              <a:lnSpc>
                <a:spcPct val="98700"/>
              </a:lnSpc>
              <a:spcBef>
                <a:spcPts val="125"/>
              </a:spcBef>
              <a:buClr>
                <a:schemeClr val="accent3"/>
              </a:buClr>
              <a:buNone/>
            </a:pPr>
            <a:r>
              <a:rPr lang="en-GB" sz="2800" dirty="0">
                <a:latin typeface="Times New Roman" pitchFamily="18" charset="0"/>
                <a:cs typeface="Times New Roman" pitchFamily="18" charset="0"/>
              </a:rPr>
              <a:t>     Microscopic imaging</a:t>
            </a:r>
          </a:p>
          <a:p>
            <a:endParaRPr lang="en-IN" dirty="0"/>
          </a:p>
        </p:txBody>
      </p:sp>
    </p:spTree>
    <p:extLst>
      <p:ext uri="{BB962C8B-B14F-4D97-AF65-F5344CB8AC3E}">
        <p14:creationId xmlns:p14="http://schemas.microsoft.com/office/powerpoint/2010/main" val="1074652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1" y="304800"/>
            <a:ext cx="6423912" cy="1625600"/>
          </a:xfrm>
        </p:spPr>
        <p:txBody>
          <a:bodyPr/>
          <a:lstStyle/>
          <a:p>
            <a:r>
              <a:rPr lang="en-US" b="1" dirty="0"/>
              <a:t>Abstract</a:t>
            </a:r>
          </a:p>
        </p:txBody>
      </p:sp>
      <p:sp>
        <p:nvSpPr>
          <p:cNvPr id="3" name="Content Placeholder 2"/>
          <p:cNvSpPr>
            <a:spLocks noGrp="1"/>
          </p:cNvSpPr>
          <p:nvPr>
            <p:ph idx="1"/>
          </p:nvPr>
        </p:nvSpPr>
        <p:spPr>
          <a:xfrm>
            <a:off x="152400" y="1066800"/>
            <a:ext cx="8153400" cy="5486400"/>
          </a:xfrm>
        </p:spPr>
        <p:txBody>
          <a:bodyPr>
            <a:normAutofit/>
          </a:bodyPr>
          <a:lstStyle/>
          <a:p>
            <a:endParaRPr lang="en-US" dirty="0"/>
          </a:p>
          <a:p>
            <a:r>
              <a:rPr lang="en-IN" sz="2000" dirty="0"/>
              <a:t>This project explores the application of machine learning techniques, specifically Facebook's Prophet Algorithm, in weather forecasting. </a:t>
            </a:r>
          </a:p>
          <a:p>
            <a:r>
              <a:rPr lang="en-IN" sz="2000" dirty="0"/>
              <a:t>Prophet has gained popularity for its effectiveness in time series forecasting tasks due to its simplicity, flexibility and robustness.</a:t>
            </a:r>
          </a:p>
          <a:p>
            <a:r>
              <a:rPr lang="en-US" sz="2000" dirty="0"/>
              <a:t>It’s</a:t>
            </a:r>
            <a:r>
              <a:rPr lang="en-IN" sz="2000" dirty="0"/>
              <a:t> provides an overview of Prophet's methodology, emphasizing its ability to automatically detect seasonality, handle missing data, and incorporate external factors such as holidays and special events. </a:t>
            </a:r>
          </a:p>
          <a:p>
            <a:r>
              <a:rPr lang="en-IN" sz="2000" dirty="0"/>
              <a:t>Furthermore, we examine the practical applications of Prophet in weather forecasting, including short-term predictions of temperature, precipitation, and wind pattern.</a:t>
            </a:r>
          </a:p>
          <a:p>
            <a:endParaRPr lang="en-IN" sz="2000" dirty="0"/>
          </a:p>
          <a:p>
            <a:endParaRPr lang="en-IN" dirty="0"/>
          </a:p>
          <a:p>
            <a:pPr algn="just"/>
            <a:endParaRPr lang="en-US" dirty="0"/>
          </a:p>
        </p:txBody>
      </p:sp>
    </p:spTree>
    <p:extLst>
      <p:ext uri="{BB962C8B-B14F-4D97-AF65-F5344CB8AC3E}">
        <p14:creationId xmlns:p14="http://schemas.microsoft.com/office/powerpoint/2010/main" val="1655149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1" y="304800"/>
            <a:ext cx="6423912" cy="1625600"/>
          </a:xfrm>
        </p:spPr>
        <p:txBody>
          <a:bodyPr/>
          <a:lstStyle/>
          <a:p>
            <a:r>
              <a:rPr lang="en-US" b="1" dirty="0"/>
              <a:t>Introduction</a:t>
            </a:r>
          </a:p>
        </p:txBody>
      </p:sp>
      <p:sp>
        <p:nvSpPr>
          <p:cNvPr id="3" name="Content Placeholder 2"/>
          <p:cNvSpPr>
            <a:spLocks noGrp="1"/>
          </p:cNvSpPr>
          <p:nvPr>
            <p:ph idx="1"/>
          </p:nvPr>
        </p:nvSpPr>
        <p:spPr>
          <a:xfrm>
            <a:off x="381000" y="1447800"/>
            <a:ext cx="7391401" cy="4822163"/>
          </a:xfrm>
        </p:spPr>
        <p:txBody>
          <a:bodyPr>
            <a:normAutofit/>
          </a:bodyPr>
          <a:lstStyle/>
          <a:p>
            <a:pPr algn="just">
              <a:buFont typeface="Wingdings" panose="05000000000000000000" pitchFamily="2" charset="2"/>
              <a:buChar char="v"/>
            </a:pPr>
            <a:endParaRPr lang="en-US" dirty="0"/>
          </a:p>
          <a:p>
            <a:r>
              <a:rPr lang="en-US" sz="2400" dirty="0"/>
              <a:t>Weather forecasting is the process of predicting atmospheric conditions over a specific time period and geographical area. </a:t>
            </a:r>
          </a:p>
          <a:p>
            <a:r>
              <a:rPr lang="en-US" sz="2400" dirty="0"/>
              <a:t>The primary goal of weather forecasting is to provide accurate and timely information to help individuals, businesses, and governments make informed decisions and mitigate the impact of weather-related events. </a:t>
            </a:r>
          </a:p>
          <a:p>
            <a:pPr marL="0" indent="0" algn="just">
              <a:buNone/>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Prediction model (Prophet)</a:t>
            </a:r>
            <a:endParaRPr lang="en-IN" b="1" dirty="0"/>
          </a:p>
        </p:txBody>
      </p:sp>
      <p:sp>
        <p:nvSpPr>
          <p:cNvPr id="3" name="Content Placeholder 2"/>
          <p:cNvSpPr>
            <a:spLocks noGrp="1"/>
          </p:cNvSpPr>
          <p:nvPr>
            <p:ph idx="1"/>
          </p:nvPr>
        </p:nvSpPr>
        <p:spPr>
          <a:xfrm>
            <a:off x="609599" y="1752600"/>
            <a:ext cx="6347714" cy="4288763"/>
          </a:xfrm>
        </p:spPr>
        <p:txBody>
          <a:bodyPr>
            <a:normAutofit/>
          </a:bodyPr>
          <a:lstStyle/>
          <a:p>
            <a:r>
              <a:rPr lang="en-US" sz="2000" dirty="0"/>
              <a:t>Prophet is an open-source forecasting tool developed by Facebook's Core Data Science team. </a:t>
            </a:r>
          </a:p>
          <a:p>
            <a:r>
              <a:rPr lang="en-US" sz="2000" dirty="0"/>
              <a:t>Prophet is widely used for forecasting in various domains, including business, finance, economics and environmental sciences.</a:t>
            </a:r>
          </a:p>
          <a:p>
            <a:pPr marL="0" indent="0" algn="just">
              <a:buNone/>
            </a:pPr>
            <a:r>
              <a:rPr lang="en-US" sz="2000" b="1" dirty="0"/>
              <a:t>Key features of Prophet include</a:t>
            </a:r>
            <a:r>
              <a:rPr lang="en-US" dirty="0"/>
              <a:t>:</a:t>
            </a:r>
          </a:p>
          <a:p>
            <a:pPr lvl="1" algn="just"/>
            <a:r>
              <a:rPr lang="en-IN" sz="1800" dirty="0"/>
              <a:t>Automatic Seasonality Detection</a:t>
            </a:r>
          </a:p>
          <a:p>
            <a:pPr lvl="1" algn="just"/>
            <a:r>
              <a:rPr lang="en-IN" sz="1800" dirty="0"/>
              <a:t>Flexible Trend </a:t>
            </a:r>
            <a:r>
              <a:rPr lang="en-IN" sz="1800" dirty="0" err="1"/>
              <a:t>Modeling</a:t>
            </a:r>
            <a:endParaRPr lang="en-IN" sz="1800" dirty="0"/>
          </a:p>
          <a:p>
            <a:pPr lvl="1" algn="just"/>
            <a:r>
              <a:rPr lang="en-IN" sz="1800" dirty="0"/>
              <a:t>Holiday Effects </a:t>
            </a:r>
          </a:p>
          <a:p>
            <a:pPr lvl="1" algn="just"/>
            <a:r>
              <a:rPr lang="en-IN" sz="1800" dirty="0"/>
              <a:t>Scalability</a:t>
            </a:r>
          </a:p>
        </p:txBody>
      </p:sp>
    </p:spTree>
    <p:extLst>
      <p:ext uri="{BB962C8B-B14F-4D97-AF65-F5344CB8AC3E}">
        <p14:creationId xmlns:p14="http://schemas.microsoft.com/office/powerpoint/2010/main" val="1215213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Contd..</a:t>
            </a:r>
            <a:endParaRPr lang="en-IN" dirty="0"/>
          </a:p>
        </p:txBody>
      </p:sp>
      <p:sp>
        <p:nvSpPr>
          <p:cNvPr id="3" name="Content Placeholder 2"/>
          <p:cNvSpPr>
            <a:spLocks noGrp="1"/>
          </p:cNvSpPr>
          <p:nvPr>
            <p:ph idx="1"/>
          </p:nvPr>
        </p:nvSpPr>
        <p:spPr>
          <a:xfrm>
            <a:off x="609599" y="1447800"/>
            <a:ext cx="6347714" cy="4593563"/>
          </a:xfrm>
        </p:spPr>
        <p:txBody>
          <a:bodyPr>
            <a:normAutofit/>
          </a:bodyPr>
          <a:lstStyle/>
          <a:p>
            <a:r>
              <a:rPr lang="en-US" sz="2200" b="1" dirty="0"/>
              <a:t>Automatic Seasonality Detection</a:t>
            </a:r>
            <a:r>
              <a:rPr lang="en-US" dirty="0"/>
              <a:t>: </a:t>
            </a:r>
            <a:r>
              <a:rPr lang="en-US" sz="2000" dirty="0"/>
              <a:t>Prophet automatically detects multiple </a:t>
            </a:r>
            <a:r>
              <a:rPr lang="en-US" sz="2000" dirty="0" err="1"/>
              <a:t>seasonalities</a:t>
            </a:r>
            <a:r>
              <a:rPr lang="en-US" sz="2000" dirty="0"/>
              <a:t> in the data, such as weekly, monthly, and yearly patterns. </a:t>
            </a:r>
          </a:p>
          <a:p>
            <a:r>
              <a:rPr lang="en-US" sz="2200" b="1" dirty="0"/>
              <a:t>Flexible Trend Modeling</a:t>
            </a:r>
            <a:r>
              <a:rPr lang="en-US" dirty="0"/>
              <a:t>: </a:t>
            </a:r>
            <a:r>
              <a:rPr lang="en-US" sz="2000" dirty="0"/>
              <a:t>Prophet allows for flexible trend modeling, accommodating non-linear trends and abrupt changes in the data. </a:t>
            </a:r>
          </a:p>
          <a:p>
            <a:r>
              <a:rPr lang="en-US" sz="2200" b="1" dirty="0"/>
              <a:t>Holiday Effects</a:t>
            </a:r>
            <a:r>
              <a:rPr lang="en-US" sz="2200" dirty="0"/>
              <a:t>: </a:t>
            </a:r>
            <a:r>
              <a:rPr lang="en-US" sz="2000" dirty="0"/>
              <a:t>Prophet can incorporate holiday effects into the forecasting model.</a:t>
            </a:r>
          </a:p>
          <a:p>
            <a:r>
              <a:rPr lang="en-US" sz="2200" b="1" dirty="0"/>
              <a:t>Uncertainty Estimation</a:t>
            </a:r>
            <a:r>
              <a:rPr lang="en-US" dirty="0"/>
              <a:t>: </a:t>
            </a:r>
            <a:r>
              <a:rPr lang="en-US" sz="2000" dirty="0"/>
              <a:t>Prophet provides uncertainty intervals around the forecasted values, allowing users to assess the reliability of the forecasts</a:t>
            </a:r>
            <a:r>
              <a:rPr lang="en-US" dirty="0"/>
              <a:t>.</a:t>
            </a:r>
          </a:p>
          <a:p>
            <a:pPr marL="0" indent="0">
              <a:buNone/>
            </a:pPr>
            <a:endParaRPr lang="en-IN" dirty="0"/>
          </a:p>
        </p:txBody>
      </p:sp>
    </p:spTree>
    <p:extLst>
      <p:ext uri="{BB962C8B-B14F-4D97-AF65-F5344CB8AC3E}">
        <p14:creationId xmlns:p14="http://schemas.microsoft.com/office/powerpoint/2010/main" val="3745817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Literature survey</a:t>
            </a:r>
            <a:endParaRPr lang="en-IN" dirty="0"/>
          </a:p>
        </p:txBody>
      </p:sp>
      <p:sp>
        <p:nvSpPr>
          <p:cNvPr id="3" name="Content Placeholder 2"/>
          <p:cNvSpPr>
            <a:spLocks noGrp="1"/>
          </p:cNvSpPr>
          <p:nvPr>
            <p:ph idx="1"/>
          </p:nvPr>
        </p:nvSpPr>
        <p:spPr>
          <a:xfrm>
            <a:off x="609599" y="1752600"/>
            <a:ext cx="6347714" cy="4288763"/>
          </a:xfrm>
        </p:spPr>
        <p:txBody>
          <a:bodyPr>
            <a:normAutofit/>
          </a:bodyPr>
          <a:lstStyle/>
          <a:p>
            <a:r>
              <a:rPr lang="en-US" sz="2800" dirty="0"/>
              <a:t>For this purpose, analysis of different data mining procedure is performed.</a:t>
            </a:r>
          </a:p>
          <a:p>
            <a:r>
              <a:rPr lang="en-US" sz="2800" dirty="0"/>
              <a:t>Classification is a data mining (machine learning) method used to predict aggregate participation for information cases</a:t>
            </a:r>
            <a:r>
              <a:rPr lang="en-US" dirty="0"/>
              <a:t>.  </a:t>
            </a:r>
            <a:endParaRPr lang="en-IN" dirty="0"/>
          </a:p>
        </p:txBody>
      </p:sp>
    </p:spTree>
    <p:extLst>
      <p:ext uri="{BB962C8B-B14F-4D97-AF65-F5344CB8AC3E}">
        <p14:creationId xmlns:p14="http://schemas.microsoft.com/office/powerpoint/2010/main" val="4276001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block diagram</a:t>
            </a:r>
            <a:endParaRPr lang="en-IN" dirty="0"/>
          </a:p>
        </p:txBody>
      </p:sp>
      <p:sp>
        <p:nvSpPr>
          <p:cNvPr id="3" name="Content Placeholder 2"/>
          <p:cNvSpPr>
            <a:spLocks noGrp="1"/>
          </p:cNvSpPr>
          <p:nvPr>
            <p:ph idx="1"/>
          </p:nvPr>
        </p:nvSpPr>
        <p:spPr/>
        <p:txBody>
          <a:bodyPr/>
          <a:lstStyle/>
          <a:p>
            <a:endParaRPr lang="en-US" dirty="0"/>
          </a:p>
          <a:p>
            <a:endParaRPr lang="en-IN" dirty="0"/>
          </a:p>
        </p:txBody>
      </p:sp>
      <p:sp>
        <p:nvSpPr>
          <p:cNvPr id="4" name="Rectangle 3"/>
          <p:cNvSpPr/>
          <p:nvPr/>
        </p:nvSpPr>
        <p:spPr>
          <a:xfrm>
            <a:off x="914400" y="2590800"/>
            <a:ext cx="12192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Weather dataset</a:t>
            </a:r>
            <a:endParaRPr lang="en-IN" sz="1400" dirty="0"/>
          </a:p>
        </p:txBody>
      </p:sp>
      <p:sp>
        <p:nvSpPr>
          <p:cNvPr id="12" name="Rectangle 11"/>
          <p:cNvSpPr/>
          <p:nvPr/>
        </p:nvSpPr>
        <p:spPr>
          <a:xfrm>
            <a:off x="2544039" y="2587690"/>
            <a:ext cx="12192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Observations</a:t>
            </a:r>
            <a:endParaRPr lang="en-IN" sz="1400" dirty="0"/>
          </a:p>
        </p:txBody>
      </p:sp>
      <p:sp>
        <p:nvSpPr>
          <p:cNvPr id="13" name="Rectangle 12"/>
          <p:cNvSpPr/>
          <p:nvPr/>
        </p:nvSpPr>
        <p:spPr>
          <a:xfrm>
            <a:off x="4317741" y="2604796"/>
            <a:ext cx="12192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b="1" dirty="0"/>
              <a:t>Data preprocessing</a:t>
            </a:r>
            <a:endParaRPr lang="en-IN" sz="1200" b="1" dirty="0"/>
          </a:p>
        </p:txBody>
      </p:sp>
      <p:sp>
        <p:nvSpPr>
          <p:cNvPr id="14" name="Rectangle 13"/>
          <p:cNvSpPr/>
          <p:nvPr/>
        </p:nvSpPr>
        <p:spPr>
          <a:xfrm>
            <a:off x="6091443" y="2587690"/>
            <a:ext cx="12192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b="1" dirty="0"/>
              <a:t>Quality assurance</a:t>
            </a:r>
            <a:endParaRPr lang="en-IN" sz="1200" b="1" dirty="0"/>
          </a:p>
        </p:txBody>
      </p:sp>
      <p:sp>
        <p:nvSpPr>
          <p:cNvPr id="15" name="Rectangle 14"/>
          <p:cNvSpPr/>
          <p:nvPr/>
        </p:nvSpPr>
        <p:spPr>
          <a:xfrm>
            <a:off x="6172200" y="3971626"/>
            <a:ext cx="12192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b="1" dirty="0"/>
              <a:t>Prediction model</a:t>
            </a:r>
            <a:endParaRPr lang="en-IN" sz="1200" b="1" dirty="0"/>
          </a:p>
        </p:txBody>
      </p:sp>
      <p:sp>
        <p:nvSpPr>
          <p:cNvPr id="16" name="Rectangle 15"/>
          <p:cNvSpPr/>
          <p:nvPr/>
        </p:nvSpPr>
        <p:spPr>
          <a:xfrm>
            <a:off x="6248400" y="5355562"/>
            <a:ext cx="12192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400" dirty="0"/>
              <a:t>Model analysis</a:t>
            </a:r>
            <a:endParaRPr lang="en-IN" sz="1400" dirty="0"/>
          </a:p>
        </p:txBody>
      </p:sp>
      <p:sp>
        <p:nvSpPr>
          <p:cNvPr id="17" name="Rectangle 16"/>
          <p:cNvSpPr/>
          <p:nvPr/>
        </p:nvSpPr>
        <p:spPr>
          <a:xfrm>
            <a:off x="4466040" y="5355562"/>
            <a:ext cx="12192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b="1" dirty="0"/>
              <a:t>Weather forecast products</a:t>
            </a:r>
            <a:endParaRPr lang="en-IN" sz="1200" b="1" dirty="0"/>
          </a:p>
        </p:txBody>
      </p:sp>
      <p:sp>
        <p:nvSpPr>
          <p:cNvPr id="18" name="Right Arrow 17"/>
          <p:cNvSpPr/>
          <p:nvPr/>
        </p:nvSpPr>
        <p:spPr>
          <a:xfrm>
            <a:off x="2133600" y="2743200"/>
            <a:ext cx="410439"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ight Arrow 18"/>
          <p:cNvSpPr/>
          <p:nvPr/>
        </p:nvSpPr>
        <p:spPr>
          <a:xfrm>
            <a:off x="3763240" y="2743200"/>
            <a:ext cx="530854"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ight Arrow 19"/>
          <p:cNvSpPr/>
          <p:nvPr/>
        </p:nvSpPr>
        <p:spPr>
          <a:xfrm>
            <a:off x="5536941" y="2757196"/>
            <a:ext cx="541311"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ight Arrow 20"/>
          <p:cNvSpPr/>
          <p:nvPr/>
        </p:nvSpPr>
        <p:spPr>
          <a:xfrm rot="5400000">
            <a:off x="6380731" y="3460816"/>
            <a:ext cx="640625"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ight Arrow 22"/>
          <p:cNvSpPr/>
          <p:nvPr/>
        </p:nvSpPr>
        <p:spPr>
          <a:xfrm rot="5400000">
            <a:off x="6432665" y="4815994"/>
            <a:ext cx="640625" cy="381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Left Arrow 23"/>
          <p:cNvSpPr/>
          <p:nvPr/>
        </p:nvSpPr>
        <p:spPr>
          <a:xfrm>
            <a:off x="5685240" y="5562600"/>
            <a:ext cx="563160" cy="3048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p:cNvSpPr/>
          <p:nvPr/>
        </p:nvSpPr>
        <p:spPr>
          <a:xfrm>
            <a:off x="2693011" y="5355562"/>
            <a:ext cx="1219200" cy="6858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600" dirty="0"/>
              <a:t>Predictions</a:t>
            </a:r>
            <a:endParaRPr lang="en-IN" sz="1600" dirty="0"/>
          </a:p>
        </p:txBody>
      </p:sp>
      <p:sp>
        <p:nvSpPr>
          <p:cNvPr id="26" name="Left Arrow 25"/>
          <p:cNvSpPr/>
          <p:nvPr/>
        </p:nvSpPr>
        <p:spPr>
          <a:xfrm>
            <a:off x="3885775" y="5546062"/>
            <a:ext cx="563160" cy="304800"/>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68613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955CC-F0AF-E799-38B4-8165A043A0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F364F6-A678-F5D5-179E-4E9924DD39E3}"/>
              </a:ext>
            </a:extLst>
          </p:cNvPr>
          <p:cNvSpPr>
            <a:spLocks noGrp="1"/>
          </p:cNvSpPr>
          <p:nvPr>
            <p:ph type="title"/>
          </p:nvPr>
        </p:nvSpPr>
        <p:spPr>
          <a:xfrm>
            <a:off x="533401" y="304800"/>
            <a:ext cx="6423912" cy="1625600"/>
          </a:xfrm>
        </p:spPr>
        <p:txBody>
          <a:bodyPr/>
          <a:lstStyle/>
          <a:p>
            <a:r>
              <a:rPr lang="en-US" dirty="0"/>
              <a:t>Contd..</a:t>
            </a:r>
            <a:endParaRPr lang="en-IN" dirty="0"/>
          </a:p>
        </p:txBody>
      </p:sp>
      <p:sp>
        <p:nvSpPr>
          <p:cNvPr id="3" name="Content Placeholder 2">
            <a:extLst>
              <a:ext uri="{FF2B5EF4-FFF2-40B4-BE49-F238E27FC236}">
                <a16:creationId xmlns:a16="http://schemas.microsoft.com/office/drawing/2014/main" id="{E08BE88C-1EAC-076C-B849-E021FB54DB55}"/>
              </a:ext>
            </a:extLst>
          </p:cNvPr>
          <p:cNvSpPr>
            <a:spLocks noGrp="1"/>
          </p:cNvSpPr>
          <p:nvPr>
            <p:ph idx="1"/>
          </p:nvPr>
        </p:nvSpPr>
        <p:spPr>
          <a:xfrm>
            <a:off x="762000" y="1295400"/>
            <a:ext cx="8001002" cy="5410200"/>
          </a:xfrm>
        </p:spPr>
        <p:txBody>
          <a:bodyPr>
            <a:normAutofit/>
          </a:bodyPr>
          <a:lstStyle/>
          <a:p>
            <a:pPr marL="0" indent="0">
              <a:buNone/>
            </a:pPr>
            <a:r>
              <a:rPr lang="en-IN" sz="3200" b="1" u="sng" dirty="0">
                <a:solidFill>
                  <a:schemeClr val="bg2">
                    <a:lumMod val="50000"/>
                  </a:schemeClr>
                </a:solidFill>
              </a:rPr>
              <a:t>Advantages</a:t>
            </a:r>
          </a:p>
          <a:p>
            <a:pPr>
              <a:buFont typeface="+mj-lt"/>
              <a:buAutoNum type="arabicPeriod"/>
            </a:pPr>
            <a:r>
              <a:rPr lang="en-IN" sz="2400" b="1" dirty="0"/>
              <a:t>Risk Mitigation</a:t>
            </a:r>
          </a:p>
          <a:p>
            <a:pPr>
              <a:buFont typeface="+mj-lt"/>
              <a:buAutoNum type="arabicPeriod"/>
            </a:pPr>
            <a:r>
              <a:rPr lang="en-IN" sz="2400" b="1" dirty="0"/>
              <a:t>Increased Safety</a:t>
            </a:r>
          </a:p>
          <a:p>
            <a:pPr>
              <a:buFont typeface="+mj-lt"/>
              <a:buAutoNum type="arabicPeriod"/>
            </a:pPr>
            <a:r>
              <a:rPr lang="en-IN" sz="2400" b="1" dirty="0"/>
              <a:t>Improved Planning and Decision-Making</a:t>
            </a:r>
          </a:p>
          <a:p>
            <a:pPr marL="0" indent="0">
              <a:buNone/>
            </a:pPr>
            <a:r>
              <a:rPr lang="en-IN" sz="3200" b="1" u="sng" dirty="0">
                <a:solidFill>
                  <a:schemeClr val="bg2">
                    <a:lumMod val="50000"/>
                  </a:schemeClr>
                </a:solidFill>
              </a:rPr>
              <a:t>Disadvantages</a:t>
            </a:r>
          </a:p>
          <a:p>
            <a:pPr>
              <a:buFont typeface="+mj-lt"/>
              <a:buAutoNum type="arabicPeriod"/>
            </a:pPr>
            <a:r>
              <a:rPr lang="en-IN" sz="2400" b="1" dirty="0"/>
              <a:t>Uncertainty</a:t>
            </a:r>
          </a:p>
          <a:p>
            <a:pPr>
              <a:buFont typeface="+mj-lt"/>
              <a:buAutoNum type="arabicPeriod"/>
            </a:pPr>
            <a:r>
              <a:rPr lang="en-IN" sz="2400" b="1" dirty="0"/>
              <a:t>Communication Challenges</a:t>
            </a:r>
          </a:p>
          <a:p>
            <a:pPr>
              <a:buFont typeface="+mj-lt"/>
              <a:buAutoNum type="arabicPeriod"/>
            </a:pPr>
            <a:r>
              <a:rPr lang="en-IN" sz="2400" b="1" dirty="0"/>
              <a:t>Economic Impact</a:t>
            </a:r>
          </a:p>
          <a:p>
            <a:pPr marL="0" indent="0">
              <a:buNone/>
            </a:pPr>
            <a:endParaRPr lang="en-IN" b="1" dirty="0"/>
          </a:p>
        </p:txBody>
      </p:sp>
    </p:spTree>
    <p:extLst>
      <p:ext uri="{BB962C8B-B14F-4D97-AF65-F5344CB8AC3E}">
        <p14:creationId xmlns:p14="http://schemas.microsoft.com/office/powerpoint/2010/main" val="2080803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DEC7E-773B-DAF8-E327-C42038B30176}"/>
              </a:ext>
            </a:extLst>
          </p:cNvPr>
          <p:cNvSpPr>
            <a:spLocks noGrp="1"/>
          </p:cNvSpPr>
          <p:nvPr>
            <p:ph type="title"/>
          </p:nvPr>
        </p:nvSpPr>
        <p:spPr/>
        <p:txBody>
          <a:bodyPr/>
          <a:lstStyle/>
          <a:p>
            <a:r>
              <a:rPr lang="en-US" dirty="0"/>
              <a:t>Applications</a:t>
            </a:r>
            <a:endParaRPr lang="en-IN" dirty="0"/>
          </a:p>
        </p:txBody>
      </p:sp>
      <p:sp>
        <p:nvSpPr>
          <p:cNvPr id="3" name="Content Placeholder 2">
            <a:extLst>
              <a:ext uri="{FF2B5EF4-FFF2-40B4-BE49-F238E27FC236}">
                <a16:creationId xmlns:a16="http://schemas.microsoft.com/office/drawing/2014/main" id="{A8D954D7-023E-3C98-963D-4DECC673FAE9}"/>
              </a:ext>
            </a:extLst>
          </p:cNvPr>
          <p:cNvSpPr>
            <a:spLocks noGrp="1"/>
          </p:cNvSpPr>
          <p:nvPr>
            <p:ph idx="1"/>
          </p:nvPr>
        </p:nvSpPr>
        <p:spPr>
          <a:xfrm>
            <a:off x="609599" y="1828800"/>
            <a:ext cx="6347714" cy="4212563"/>
          </a:xfrm>
        </p:spPr>
        <p:txBody>
          <a:bodyPr>
            <a:normAutofit/>
          </a:bodyPr>
          <a:lstStyle/>
          <a:p>
            <a:pPr>
              <a:buAutoNum type="arabicPeriod"/>
            </a:pPr>
            <a:r>
              <a:rPr lang="en-IN" sz="2400" b="1" dirty="0"/>
              <a:t>Emergency Management</a:t>
            </a:r>
          </a:p>
          <a:p>
            <a:pPr>
              <a:buAutoNum type="arabicPeriod"/>
            </a:pPr>
            <a:r>
              <a:rPr lang="en-IN" sz="2400" b="1" dirty="0"/>
              <a:t>Agriculture</a:t>
            </a:r>
          </a:p>
          <a:p>
            <a:pPr>
              <a:buAutoNum type="arabicPeriod"/>
            </a:pPr>
            <a:r>
              <a:rPr lang="en-IN" sz="2400" b="1" dirty="0"/>
              <a:t>Renewable Energy</a:t>
            </a:r>
          </a:p>
          <a:p>
            <a:pPr>
              <a:buAutoNum type="arabicPeriod"/>
            </a:pPr>
            <a:r>
              <a:rPr lang="en-IN" sz="2400" b="1" dirty="0"/>
              <a:t>Transportation</a:t>
            </a:r>
          </a:p>
          <a:p>
            <a:pPr>
              <a:buFont typeface="Wingdings 3" charset="2"/>
              <a:buAutoNum type="arabicPeriod"/>
            </a:pPr>
            <a:r>
              <a:rPr lang="en-IN" sz="2400" b="1" dirty="0"/>
              <a:t>Public Safety </a:t>
            </a:r>
          </a:p>
        </p:txBody>
      </p:sp>
    </p:spTree>
    <p:extLst>
      <p:ext uri="{BB962C8B-B14F-4D97-AF65-F5344CB8AC3E}">
        <p14:creationId xmlns:p14="http://schemas.microsoft.com/office/powerpoint/2010/main" val="3576957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2C242-C69C-040F-05AA-886EC675D0AE}"/>
              </a:ext>
            </a:extLst>
          </p:cNvPr>
          <p:cNvSpPr>
            <a:spLocks noGrp="1"/>
          </p:cNvSpPr>
          <p:nvPr>
            <p:ph type="title"/>
          </p:nvPr>
        </p:nvSpPr>
        <p:spPr/>
        <p:txBody>
          <a:bodyPr/>
          <a:lstStyle/>
          <a:p>
            <a:r>
              <a:rPr lang="en-US" dirty="0"/>
              <a:t>Proposed method</a:t>
            </a:r>
            <a:endParaRPr lang="en-IN" dirty="0"/>
          </a:p>
        </p:txBody>
      </p:sp>
      <p:sp>
        <p:nvSpPr>
          <p:cNvPr id="3" name="Content Placeholder 2">
            <a:extLst>
              <a:ext uri="{FF2B5EF4-FFF2-40B4-BE49-F238E27FC236}">
                <a16:creationId xmlns:a16="http://schemas.microsoft.com/office/drawing/2014/main" id="{748238AC-9B8B-2498-CEED-854144948E8E}"/>
              </a:ext>
            </a:extLst>
          </p:cNvPr>
          <p:cNvSpPr>
            <a:spLocks noGrp="1"/>
          </p:cNvSpPr>
          <p:nvPr>
            <p:ph idx="1"/>
          </p:nvPr>
        </p:nvSpPr>
        <p:spPr>
          <a:xfrm>
            <a:off x="609599" y="1752600"/>
            <a:ext cx="6652515" cy="4261773"/>
          </a:xfrm>
        </p:spPr>
        <p:txBody>
          <a:bodyPr>
            <a:normAutofit/>
          </a:bodyPr>
          <a:lstStyle/>
          <a:p>
            <a:r>
              <a:rPr lang="en-US" sz="2900" dirty="0"/>
              <a:t>  Data Collection and Preparation</a:t>
            </a:r>
          </a:p>
          <a:p>
            <a:r>
              <a:rPr lang="en-US" sz="2900" dirty="0"/>
              <a:t>  Model Selection</a:t>
            </a:r>
          </a:p>
          <a:p>
            <a:r>
              <a:rPr lang="en-US" sz="2900" dirty="0"/>
              <a:t>  Model Training</a:t>
            </a:r>
          </a:p>
          <a:p>
            <a:r>
              <a:rPr lang="en-US" sz="2900" dirty="0"/>
              <a:t>  Prediction</a:t>
            </a:r>
          </a:p>
          <a:p>
            <a:r>
              <a:rPr lang="en-US" sz="2900" dirty="0"/>
              <a:t>  Evaluation and Visualization</a:t>
            </a:r>
            <a:endParaRPr lang="en-IN" sz="2900" dirty="0"/>
          </a:p>
        </p:txBody>
      </p:sp>
    </p:spTree>
    <p:extLst>
      <p:ext uri="{BB962C8B-B14F-4D97-AF65-F5344CB8AC3E}">
        <p14:creationId xmlns:p14="http://schemas.microsoft.com/office/powerpoint/2010/main" val="25037900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2474" y="533400"/>
            <a:ext cx="6517240" cy="1397000"/>
          </a:xfrm>
        </p:spPr>
        <p:txBody>
          <a:bodyPr/>
          <a:lstStyle/>
          <a:p>
            <a:r>
              <a:rPr lang="en-US" dirty="0"/>
              <a:t>Proposed method</a:t>
            </a:r>
            <a:endParaRPr lang="en-IN" dirty="0"/>
          </a:p>
        </p:txBody>
      </p:sp>
      <p:sp>
        <p:nvSpPr>
          <p:cNvPr id="3" name="Content Placeholder 2"/>
          <p:cNvSpPr>
            <a:spLocks noGrp="1"/>
          </p:cNvSpPr>
          <p:nvPr>
            <p:ph idx="1"/>
          </p:nvPr>
        </p:nvSpPr>
        <p:spPr>
          <a:xfrm>
            <a:off x="592473" y="1600200"/>
            <a:ext cx="6347714" cy="4495800"/>
          </a:xfrm>
        </p:spPr>
        <p:txBody>
          <a:bodyPr>
            <a:normAutofit/>
          </a:bodyPr>
          <a:lstStyle/>
          <a:p>
            <a:pPr marL="0" indent="0">
              <a:buNone/>
            </a:pPr>
            <a:r>
              <a:rPr lang="en-US" sz="2000" b="1" dirty="0"/>
              <a:t>Step 1: </a:t>
            </a:r>
            <a:r>
              <a:rPr lang="en-IN" sz="2000" b="1" dirty="0"/>
              <a:t>Data Collection and Preparation</a:t>
            </a:r>
            <a:r>
              <a:rPr lang="en-IN" dirty="0"/>
              <a:t>:</a:t>
            </a:r>
          </a:p>
          <a:p>
            <a:pPr marL="400050" lvl="1" indent="0">
              <a:buNone/>
            </a:pPr>
            <a:r>
              <a:rPr lang="en-US" sz="1800" dirty="0"/>
              <a:t>Gather historical data related to the variable of          interest (e.g., temperature, humidity). Ensure the data is of high quality and free from missing values or outliers. </a:t>
            </a:r>
          </a:p>
          <a:p>
            <a:pPr marL="0" indent="0" algn="just">
              <a:buNone/>
            </a:pPr>
            <a:r>
              <a:rPr lang="en-US" sz="2000" b="1" dirty="0"/>
              <a:t>Step 2:  </a:t>
            </a:r>
            <a:r>
              <a:rPr lang="en-IN" sz="2000" b="1" dirty="0"/>
              <a:t>Model Selection</a:t>
            </a:r>
            <a:r>
              <a:rPr lang="en-IN" dirty="0"/>
              <a:t>:</a:t>
            </a:r>
          </a:p>
          <a:p>
            <a:pPr marL="0" indent="0">
              <a:buNone/>
            </a:pPr>
            <a:r>
              <a:rPr lang="en-US" sz="1600" dirty="0"/>
              <a:t>	</a:t>
            </a:r>
            <a:r>
              <a:rPr lang="en-US" dirty="0"/>
              <a:t>Choose a suitable forecasting model  based on the 	characteristics of the data and the desired prediction 	horizon. </a:t>
            </a:r>
          </a:p>
          <a:p>
            <a:pPr marL="0" indent="0" algn="just">
              <a:buNone/>
            </a:pPr>
            <a:r>
              <a:rPr lang="en-US" sz="2000" b="1" dirty="0"/>
              <a:t>Step 3: </a:t>
            </a:r>
            <a:r>
              <a:rPr lang="en-IN" sz="2000" b="1" dirty="0"/>
              <a:t>Model Training</a:t>
            </a:r>
          </a:p>
          <a:p>
            <a:pPr marL="0" indent="0">
              <a:buNone/>
            </a:pPr>
            <a:r>
              <a:rPr lang="en-US" sz="1600" dirty="0"/>
              <a:t> 	</a:t>
            </a:r>
            <a:r>
              <a:rPr lang="en-US" dirty="0"/>
              <a:t>Fit the chosen model to the historical data. The                        	Prophet 	model is trained using the `fit()`method with 	the prepared data.</a:t>
            </a:r>
          </a:p>
          <a:p>
            <a:pPr marL="0" indent="0">
              <a:buNone/>
            </a:pPr>
            <a:endParaRPr lang="en-US" sz="1600" dirty="0"/>
          </a:p>
          <a:p>
            <a:pPr marL="0" indent="0" algn="just">
              <a:buNone/>
            </a:pPr>
            <a:endParaRPr lang="en-US" dirty="0"/>
          </a:p>
          <a:p>
            <a:pPr marL="0" indent="0">
              <a:buNone/>
            </a:pPr>
            <a:endParaRPr lang="en-IN" dirty="0"/>
          </a:p>
        </p:txBody>
      </p:sp>
    </p:spTree>
    <p:extLst>
      <p:ext uri="{BB962C8B-B14F-4D97-AF65-F5344CB8AC3E}">
        <p14:creationId xmlns:p14="http://schemas.microsoft.com/office/powerpoint/2010/main" val="13836950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799" y="609600"/>
            <a:ext cx="6652513" cy="1320800"/>
          </a:xfrm>
        </p:spPr>
        <p:txBody>
          <a:bodyPr/>
          <a:lstStyle/>
          <a:p>
            <a:r>
              <a:rPr lang="en-US" dirty="0"/>
              <a:t>Forecasting data</a:t>
            </a:r>
            <a:endParaRPr lang="en-IN" dirty="0"/>
          </a:p>
        </p:txBody>
      </p:sp>
      <p:sp>
        <p:nvSpPr>
          <p:cNvPr id="3" name="Content Placeholder 2"/>
          <p:cNvSpPr>
            <a:spLocks noGrp="1"/>
          </p:cNvSpPr>
          <p:nvPr>
            <p:ph idx="1"/>
          </p:nvPr>
        </p:nvSpPr>
        <p:spPr>
          <a:xfrm>
            <a:off x="304799" y="1676400"/>
            <a:ext cx="7924801" cy="4364963"/>
          </a:xfrm>
        </p:spPr>
        <p:txBody>
          <a:bodyPr>
            <a:normAutofit fontScale="92500" lnSpcReduction="10000"/>
          </a:bodyPr>
          <a:lstStyle/>
          <a:p>
            <a:pPr marL="0" indent="0">
              <a:buNone/>
            </a:pPr>
            <a:r>
              <a:rPr lang="en-US" dirty="0"/>
              <a:t> ds          y          humidity   windspeed    mean        pressure        year  month</a:t>
            </a:r>
          </a:p>
          <a:p>
            <a:pPr marL="0" indent="0">
              <a:buNone/>
            </a:pPr>
            <a:r>
              <a:rPr lang="en-US" dirty="0"/>
              <a:t>0    2013-01-01  10.000000   84.500000    0.000000  1015.666667   2013    1</a:t>
            </a:r>
          </a:p>
          <a:p>
            <a:pPr marL="0" indent="0">
              <a:buNone/>
            </a:pPr>
            <a:r>
              <a:rPr lang="en-US" dirty="0"/>
              <a:t>1    2013-01-02   7.400000   92.000000    2.980000   1017.800000   2013    1</a:t>
            </a:r>
          </a:p>
          <a:p>
            <a:pPr marL="0" indent="0">
              <a:buNone/>
            </a:pPr>
            <a:r>
              <a:rPr lang="en-US" dirty="0"/>
              <a:t>2    2013-01-03   7.166667   87.000000    4.633333   1018.666667   2013    1</a:t>
            </a:r>
          </a:p>
          <a:p>
            <a:pPr marL="0" indent="0">
              <a:buNone/>
            </a:pPr>
            <a:r>
              <a:rPr lang="en-US" dirty="0"/>
              <a:t>3    2013-01-04   8.666667   71.333333    1.233333   1017.166667   2013    1</a:t>
            </a:r>
          </a:p>
          <a:p>
            <a:pPr marL="0" indent="0">
              <a:buNone/>
            </a:pPr>
            <a:r>
              <a:rPr lang="en-US" dirty="0"/>
              <a:t>4    2013-01-05   6.000000   86.833333    3.700000   1016.500000   2013    1</a:t>
            </a:r>
          </a:p>
          <a:p>
            <a:pPr marL="0" indent="0">
              <a:buNone/>
            </a:pPr>
            <a:r>
              <a:rPr lang="en-US" dirty="0"/>
              <a:t>...         ...        ...         ...         ...           ...   ...    ...</a:t>
            </a:r>
          </a:p>
          <a:p>
            <a:pPr marL="0" indent="0">
              <a:buNone/>
            </a:pPr>
            <a:r>
              <a:rPr lang="en-US" dirty="0"/>
              <a:t>1457 2016-12-28  17.217391   68.043478    3.547826   1015.565217  2016   12</a:t>
            </a:r>
          </a:p>
          <a:p>
            <a:pPr marL="0" indent="0">
              <a:buNone/>
            </a:pPr>
            <a:r>
              <a:rPr lang="en-US" dirty="0"/>
              <a:t>1458 2016-12-29  15.238095   87.857143    6.000000   1016.904762  2016   12</a:t>
            </a:r>
          </a:p>
          <a:p>
            <a:pPr marL="0" indent="0">
              <a:buNone/>
            </a:pPr>
            <a:r>
              <a:rPr lang="en-US" dirty="0"/>
              <a:t>1459 2016-12-30  14.095238   89.666667    6.266667   1017.904762  2016   12</a:t>
            </a:r>
          </a:p>
          <a:p>
            <a:pPr marL="0" indent="0">
              <a:buNone/>
            </a:pPr>
            <a:r>
              <a:rPr lang="en-US" dirty="0"/>
              <a:t>1460 2016-12-31  15.052632   87.000000    7.325000   1016.100000  2016   12</a:t>
            </a:r>
          </a:p>
          <a:p>
            <a:pPr marL="0" indent="0">
              <a:buNone/>
            </a:pPr>
            <a:r>
              <a:rPr lang="en-US" dirty="0"/>
              <a:t>1461 2016-01-01  10.000000  100.000000    0.000000   1016.000000 2016    1</a:t>
            </a:r>
            <a:endParaRPr lang="en-IN" dirty="0"/>
          </a:p>
        </p:txBody>
      </p:sp>
    </p:spTree>
    <p:extLst>
      <p:ext uri="{BB962C8B-B14F-4D97-AF65-F5344CB8AC3E}">
        <p14:creationId xmlns:p14="http://schemas.microsoft.com/office/powerpoint/2010/main" val="134707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49C15-E9DF-8F54-62D0-9E922E750E4D}"/>
              </a:ext>
            </a:extLst>
          </p:cNvPr>
          <p:cNvSpPr>
            <a:spLocks noGrp="1"/>
          </p:cNvSpPr>
          <p:nvPr>
            <p:ph type="title"/>
          </p:nvPr>
        </p:nvSpPr>
        <p:spPr>
          <a:xfrm>
            <a:off x="457200" y="417980"/>
            <a:ext cx="7315200" cy="1320800"/>
          </a:xfrm>
        </p:spPr>
        <p:txBody>
          <a:bodyPr/>
          <a:lstStyle/>
          <a:p>
            <a:r>
              <a:rPr lang="en-IN" dirty="0"/>
              <a:t>Comparative Graph</a:t>
            </a:r>
          </a:p>
        </p:txBody>
      </p:sp>
      <p:sp>
        <p:nvSpPr>
          <p:cNvPr id="3" name="Content Placeholder 2">
            <a:extLst>
              <a:ext uri="{FF2B5EF4-FFF2-40B4-BE49-F238E27FC236}">
                <a16:creationId xmlns:a16="http://schemas.microsoft.com/office/drawing/2014/main" id="{052F3B1A-71E1-46DE-70D0-989D04E709D4}"/>
              </a:ext>
            </a:extLst>
          </p:cNvPr>
          <p:cNvSpPr>
            <a:spLocks noGrp="1"/>
          </p:cNvSpPr>
          <p:nvPr>
            <p:ph idx="1"/>
          </p:nvPr>
        </p:nvSpPr>
        <p:spPr/>
        <p:txBody>
          <a:bodyPr/>
          <a:lstStyle/>
          <a:p>
            <a:endParaRPr lang="en-IN" dirty="0"/>
          </a:p>
        </p:txBody>
      </p:sp>
      <p:sp>
        <p:nvSpPr>
          <p:cNvPr id="4" name="Title 1">
            <a:extLst>
              <a:ext uri="{FF2B5EF4-FFF2-40B4-BE49-F238E27FC236}">
                <a16:creationId xmlns:a16="http://schemas.microsoft.com/office/drawing/2014/main" id="{C6C8A721-2213-EB33-6B4E-CE9D799B600A}"/>
              </a:ext>
            </a:extLst>
          </p:cNvPr>
          <p:cNvSpPr txBox="1">
            <a:spLocks/>
          </p:cNvSpPr>
          <p:nvPr/>
        </p:nvSpPr>
        <p:spPr>
          <a:xfrm>
            <a:off x="3783456" y="458094"/>
            <a:ext cx="6347713"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IN" dirty="0"/>
          </a:p>
        </p:txBody>
      </p:sp>
      <p:pic>
        <p:nvPicPr>
          <p:cNvPr id="5" name="Content Placeholder 3">
            <a:extLst>
              <a:ext uri="{FF2B5EF4-FFF2-40B4-BE49-F238E27FC236}">
                <a16:creationId xmlns:a16="http://schemas.microsoft.com/office/drawing/2014/main" id="{D38432A6-A0A7-3AE6-CF96-C33D55190086}"/>
              </a:ext>
            </a:extLst>
          </p:cNvPr>
          <p:cNvPicPr>
            <a:picLocks noChangeAspect="1"/>
          </p:cNvPicPr>
          <p:nvPr/>
        </p:nvPicPr>
        <p:blipFill>
          <a:blip r:embed="rId2"/>
          <a:stretch>
            <a:fillRect/>
          </a:stretch>
        </p:blipFill>
        <p:spPr>
          <a:xfrm>
            <a:off x="152400" y="1778894"/>
            <a:ext cx="7543800" cy="4302583"/>
          </a:xfrm>
          <a:prstGeom prst="rect">
            <a:avLst/>
          </a:prstGeom>
        </p:spPr>
      </p:pic>
    </p:spTree>
    <p:extLst>
      <p:ext uri="{BB962C8B-B14F-4D97-AF65-F5344CB8AC3E}">
        <p14:creationId xmlns:p14="http://schemas.microsoft.com/office/powerpoint/2010/main" val="17589855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4CACB-8961-0562-BCA8-33C8444F7B33}"/>
              </a:ext>
            </a:extLst>
          </p:cNvPr>
          <p:cNvSpPr>
            <a:spLocks noGrp="1"/>
          </p:cNvSpPr>
          <p:nvPr>
            <p:ph type="title"/>
          </p:nvPr>
        </p:nvSpPr>
        <p:spPr>
          <a:xfrm>
            <a:off x="381001" y="381000"/>
            <a:ext cx="6576312" cy="1549400"/>
          </a:xfrm>
        </p:spPr>
        <p:txBody>
          <a:bodyPr/>
          <a:lstStyle/>
          <a:p>
            <a:r>
              <a:rPr lang="en-IN" dirty="0"/>
              <a:t>Conclusion</a:t>
            </a:r>
          </a:p>
        </p:txBody>
      </p:sp>
      <p:sp>
        <p:nvSpPr>
          <p:cNvPr id="3" name="Content Placeholder 2">
            <a:extLst>
              <a:ext uri="{FF2B5EF4-FFF2-40B4-BE49-F238E27FC236}">
                <a16:creationId xmlns:a16="http://schemas.microsoft.com/office/drawing/2014/main" id="{72E0939B-ADAB-FEA3-E8B9-C966D5ED41BF}"/>
              </a:ext>
            </a:extLst>
          </p:cNvPr>
          <p:cNvSpPr>
            <a:spLocks noGrp="1"/>
          </p:cNvSpPr>
          <p:nvPr>
            <p:ph idx="1"/>
          </p:nvPr>
        </p:nvSpPr>
        <p:spPr>
          <a:xfrm>
            <a:off x="457200" y="1600200"/>
            <a:ext cx="7010400" cy="4441163"/>
          </a:xfrm>
        </p:spPr>
        <p:txBody>
          <a:bodyPr>
            <a:normAutofit/>
          </a:bodyPr>
          <a:lstStyle/>
          <a:p>
            <a:pPr marL="0" indent="0">
              <a:buNone/>
            </a:pPr>
            <a:r>
              <a:rPr lang="en-IN" sz="2400" dirty="0"/>
              <a:t>In conclusion, we emphasize the potential of Prophet as a valuable tool in the arsenal of weather forecasters, offering improved accuracy, scalability, and ease of use compared to traditional methods. By harnessing the power of machine learning, particularly through algorithms like Prophet, weather forecasting efforts can be enhanced, leading to better preparedness and decision-making in the face of changing weather patterns and extreme events.</a:t>
            </a:r>
          </a:p>
          <a:p>
            <a:pPr marL="0" indent="0">
              <a:buNone/>
            </a:pPr>
            <a:endParaRPr lang="en-IN" sz="2000" dirty="0"/>
          </a:p>
        </p:txBody>
      </p:sp>
    </p:spTree>
    <p:extLst>
      <p:ext uri="{BB962C8B-B14F-4D97-AF65-F5344CB8AC3E}">
        <p14:creationId xmlns:p14="http://schemas.microsoft.com/office/powerpoint/2010/main" val="36902295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5410200"/>
          </a:xfrm>
        </p:spPr>
        <p:txBody>
          <a:bodyPr/>
          <a:lstStyle/>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r>
              <a:rPr lang="en-US" sz="5400" dirty="0"/>
              <a:t>              Thank you </a:t>
            </a:r>
          </a:p>
        </p:txBody>
      </p:sp>
    </p:spTree>
  </p:cSld>
  <p:clrMapOvr>
    <a:masterClrMapping/>
  </p:clrMapOvr>
</p:sld>
</file>

<file path=ppt/theme/theme1.xml><?xml version="1.0" encoding="utf-8"?>
<a:theme xmlns:a="http://schemas.openxmlformats.org/drawingml/2006/main" name="Facet">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1736</TotalTime>
  <Words>838</Words>
  <Application>Microsoft Office PowerPoint</Application>
  <PresentationFormat>On-screen Show (4:3)</PresentationFormat>
  <Paragraphs>135</Paragraphs>
  <Slides>18</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Times New Roman</vt:lpstr>
      <vt:lpstr>Trebuchet MS</vt:lpstr>
      <vt:lpstr>Wingdings</vt:lpstr>
      <vt:lpstr>Wingdings 2</vt:lpstr>
      <vt:lpstr>Wingdings 3</vt:lpstr>
      <vt:lpstr>Facet</vt:lpstr>
      <vt:lpstr>           Weather Forecasting Prediction Using Machine Learning Techniques </vt:lpstr>
      <vt:lpstr>Index</vt:lpstr>
      <vt:lpstr>Introduction(DIP)</vt:lpstr>
      <vt:lpstr>Applications </vt:lpstr>
      <vt:lpstr>Abstract</vt:lpstr>
      <vt:lpstr>Introduction</vt:lpstr>
      <vt:lpstr>Prediction model (Prophet)</vt:lpstr>
      <vt:lpstr>Contd..</vt:lpstr>
      <vt:lpstr>Literature survey</vt:lpstr>
      <vt:lpstr>Basic block diagram</vt:lpstr>
      <vt:lpstr>Contd..</vt:lpstr>
      <vt:lpstr>Applications</vt:lpstr>
      <vt:lpstr>Proposed method</vt:lpstr>
      <vt:lpstr>Proposed method</vt:lpstr>
      <vt:lpstr>Forecasting data</vt:lpstr>
      <vt:lpstr>Comparative Graph</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Comparative Analysis of  Various Satellite Image Contrast Enhancement Techniques</dc:title>
  <dc:creator>Koteswararao</dc:creator>
  <cp:lastModifiedBy>Geethika Reddy</cp:lastModifiedBy>
  <cp:revision>193</cp:revision>
  <dcterms:created xsi:type="dcterms:W3CDTF">2006-08-16T00:00:00Z</dcterms:created>
  <dcterms:modified xsi:type="dcterms:W3CDTF">2024-03-18T14:30:19Z</dcterms:modified>
</cp:coreProperties>
</file>